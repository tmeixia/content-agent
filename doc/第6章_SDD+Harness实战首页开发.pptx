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4" r:id="rId3"/>
    <p:sldId id="256" r:id="rId4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93" r:id="rId18"/>
    <p:sldId id="294" r:id="rId19"/>
    <p:sldId id="295" r:id="rId20"/>
    <p:sldId id="296" r:id="rId21"/>
    <p:sldId id="297" r:id="rId22"/>
    <p:sldId id="298" r:id="rId23"/>
    <p:sldId id="272" r:id="rId24"/>
    <p:sldId id="303" r:id="rId25"/>
    <p:sldId id="304" r:id="rId26"/>
  </p:sldIdLst>
  <p:sldSz cx="9144000" cy="5143500"/>
  <p:notesSz cx="5143500" cy="9144000"/>
  <p:custDataLst>
    <p:tags r:id="rId3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gs" Target="tags/tag18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0" y="3329929"/>
            <a:ext cx="9142810" cy="6869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3" name="TextBox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9489" y="3467784"/>
            <a:ext cx="322178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algn="ctr"/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Freeform 5"/>
          <p:cNvSpPr/>
          <p:nvPr>
            <p:custDataLst>
              <p:tags r:id="rId3"/>
            </p:custDataLst>
          </p:nvPr>
        </p:nvSpPr>
        <p:spPr bwMode="auto">
          <a:xfrm rot="1855731">
            <a:off x="3071186" y="756255"/>
            <a:ext cx="480168" cy="43292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6" name="Freeform 5"/>
          <p:cNvSpPr/>
          <p:nvPr>
            <p:custDataLst>
              <p:tags r:id="rId4"/>
            </p:custDataLst>
          </p:nvPr>
        </p:nvSpPr>
        <p:spPr bwMode="auto">
          <a:xfrm rot="1855731">
            <a:off x="4061994" y="706021"/>
            <a:ext cx="256127" cy="23092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7" name="Freeform 5"/>
          <p:cNvSpPr/>
          <p:nvPr>
            <p:custDataLst>
              <p:tags r:id="rId5"/>
            </p:custDataLst>
          </p:nvPr>
        </p:nvSpPr>
        <p:spPr bwMode="auto">
          <a:xfrm rot="1855731">
            <a:off x="2331235" y="901917"/>
            <a:ext cx="254888" cy="22981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8" name="Freeform 5"/>
          <p:cNvSpPr/>
          <p:nvPr>
            <p:custDataLst>
              <p:tags r:id="rId6"/>
            </p:custDataLst>
          </p:nvPr>
        </p:nvSpPr>
        <p:spPr bwMode="auto">
          <a:xfrm rot="1855731">
            <a:off x="4769497" y="871661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9" name="Freeform 5"/>
          <p:cNvSpPr/>
          <p:nvPr>
            <p:custDataLst>
              <p:tags r:id="rId7"/>
            </p:custDataLst>
          </p:nvPr>
        </p:nvSpPr>
        <p:spPr bwMode="auto">
          <a:xfrm rot="1855731">
            <a:off x="5615878" y="774997"/>
            <a:ext cx="173846" cy="15674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30" name="Freeform 5"/>
          <p:cNvSpPr/>
          <p:nvPr>
            <p:custDataLst>
              <p:tags r:id="rId8"/>
            </p:custDataLst>
          </p:nvPr>
        </p:nvSpPr>
        <p:spPr bwMode="auto">
          <a:xfrm rot="1855731">
            <a:off x="6314536" y="807438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481845" y="2703476"/>
            <a:ext cx="2108646" cy="1901183"/>
            <a:chOff x="3720691" y="2824413"/>
            <a:chExt cx="1341120" cy="1209172"/>
          </a:xfrm>
        </p:grpSpPr>
        <p:sp>
          <p:nvSpPr>
            <p:cNvPr id="32" name="Freeform 5"/>
            <p:cNvSpPr/>
            <p:nvPr>
              <p:custDataLst>
                <p:tags r:id="rId9"/>
              </p:custDataLst>
            </p:nvPr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  <p:sp>
          <p:nvSpPr>
            <p:cNvPr id="33" name="Freeform 5"/>
            <p:cNvSpPr/>
            <p:nvPr>
              <p:custDataLst>
                <p:tags r:id="rId10"/>
              </p:custDataLst>
            </p:nvPr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>
                    <a:lumMod val="50000"/>
                    <a:lumOff val="50000"/>
                  </a:srgbClr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</p:grpSp>
      <p:grpSp>
        <p:nvGrpSpPr>
          <p:cNvPr id="35" name="71"/>
          <p:cNvGrpSpPr/>
          <p:nvPr>
            <p:custDataLst>
              <p:tags r:id="rId11"/>
            </p:custDataLst>
          </p:nvPr>
        </p:nvGrpSpPr>
        <p:grpSpPr>
          <a:xfrm>
            <a:off x="1655445" y="1528445"/>
            <a:ext cx="6053455" cy="1397000"/>
            <a:chOff x="4304043" y="1286668"/>
            <a:chExt cx="3837944" cy="2757793"/>
          </a:xfrm>
          <a:effectLst>
            <a:outerShdw blurRad="203200" dist="1524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6" name="72"/>
            <p:cNvSpPr/>
            <p:nvPr>
              <p:custDataLst>
                <p:tags r:id="rId12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37" name="73"/>
            <p:cNvSpPr/>
            <p:nvPr>
              <p:custDataLst>
                <p:tags r:id="rId13"/>
              </p:custDataLst>
            </p:nvPr>
          </p:nvSpPr>
          <p:spPr>
            <a:xfrm>
              <a:off x="4351930" y="1373339"/>
              <a:ext cx="3764602" cy="2584451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38" name="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674495" y="1741170"/>
            <a:ext cx="5994400" cy="101473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基于SDD+Harness规范实战首页模块开发</a:t>
            </a:r>
            <a:endParaRPr 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8" name="圆角矩形"/>
          <p:cNvSpPr/>
          <p:nvPr>
            <p:custDataLst>
              <p:tags r:id="rId15"/>
            </p:custDataLst>
          </p:nvPr>
        </p:nvSpPr>
        <p:spPr>
          <a:xfrm>
            <a:off x="3645079" y="3418964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endParaRPr lang="zh-CN" altLang="en-US" sz="3000" b="1" u="none" strike="noStrike" kern="1200" cap="none" spc="0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3" name="TextBox 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59830" y="3480435"/>
            <a:ext cx="17379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DK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"/>
          <p:cNvSpPr/>
          <p:nvPr>
            <p:custDataLst>
              <p:tags r:id="rId17"/>
            </p:custDataLst>
          </p:nvPr>
        </p:nvSpPr>
        <p:spPr>
          <a:xfrm>
            <a:off x="3645079" y="3418964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首页</a:t>
            </a: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实战</a:t>
            </a:r>
            <a:endParaRPr lang="zh-CN" altLang="en-US" sz="3000" b="1" u="none" strike="noStrike" kern="1200" cap="none" spc="0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7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50"/>
                            </p:stCondLst>
                            <p:childTnLst>
                              <p:par>
                                <p:cTn id="6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5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utoUpdateAnimBg="0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8" grpId="0"/>
      <p:bldP spid="18" grpId="0" bldLvl="0" animBg="1"/>
      <p:bldP spid="3" grpId="0" bldLvl="0" autoUpdateAnimBg="0"/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如何将需求分解为可执行的Spec单元?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拆分粒度决策——一份Spec的边界在哪？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04672"/>
            <a:ext cx="7863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反面案例：6个组件塞进一份Spec → AI输出混乱（耦合、互相依赖、改一处全崩）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152144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教训：Spec粒度不对，AI输出质量断崖式下降。粗粒度 = 注意力分散 = 低质量。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24505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23591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独立可测试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235915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做完能单独跑验收吗？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不需要其他模块配合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5264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737360"/>
            <a:ext cx="24505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92424" y="2066544"/>
            <a:ext cx="23591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数据边界清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2414016"/>
            <a:ext cx="235915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消费的数据来自同一个源？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不需要跨模块协调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737360"/>
            <a:ext cx="24505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2066544"/>
            <a:ext cx="23591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可独立交付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2414016"/>
            <a:ext cx="2359152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做完页面上看得到效果？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能给产品经理演示吗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</p:spPr>
      </p:sp>
      <p:sp>
        <p:nvSpPr>
          <p:cNvPr id="19" name="Text 17"/>
          <p:cNvSpPr/>
          <p:nvPr/>
        </p:nvSpPr>
        <p:spPr>
          <a:xfrm>
            <a:off x="1097280" y="3246120"/>
            <a:ext cx="6949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粒度就是效率。拆对了，每份AI转化率都是90%+。类比乐高说明书——每步只拼一个子件。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三条标准是判断“拆得够不够细”的唯一判据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实战演示：拆分Spec的完整Prompt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840480"/>
          </a:xfrm>
          <a:prstGeom prst="roundRect">
            <a:avLst>
              <a:gd name="adj" fmla="val 1429"/>
            </a:avLst>
          </a:prstGeom>
          <a:solidFill>
            <a:srgbClr val="1E293B"/>
          </a:solidFill>
        </p:spPr>
      </p:sp>
      <p:sp>
        <p:nvSpPr>
          <p:cNvPr id="4" name="Text 2"/>
          <p:cNvSpPr/>
          <p:nvPr/>
        </p:nvSpPr>
        <p:spPr>
          <a:xfrm>
            <a:off x="640080" y="841248"/>
            <a:ext cx="78638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我正在开发WanderChina首页。首页包含以下功能区域：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1. **Hero区** — 品牌主视觉背景图 + 品牌标语（结合上下文背景生成一条） + 副标题(结合上下文背景生成一条) + 搜索框</a:t>
            </a: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2. **热门帖子** — 按过去7天Upvote数排序的社区帖子Top 10</a:t>
            </a: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3. **热门景点** — 按浏览量排序的景点推荐，展示6-8个城市卡片</a:t>
            </a: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4. **城市快速入口** — 8个MVP城市的图标网格，点击进入对应城市攻略页</a:t>
            </a: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5. **AI助手入口** — 悬浮按钮或顶部入口，随时唤起AI对话</a:t>
            </a: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6. **功能导航栏** — 三大平台入口卡片--旅游社区(图标+标题+一句话描述)、景点攻略(图标+标题+一句话描述)、AI助手(图标+标题+一句话描述)</a:t>
            </a: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950" dirty="0">
              <a:solidFill>
                <a:srgbClr val="E2E8F0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请将这个页面拆分为独立的Spec开发单元。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拆分标准：每个单元可独立开发、独立测试、独立交付。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输出：文件名 / 一句话描述 / 数据依赖 / 与其他单元依赖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输入越具体，AI拆分越准确。告诉AI“有什么”而不是“怎么做”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如何制定首页功能开发计划?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如何通过openSpec指令快速生成?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生成Spec文档的Prompt模板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840480"/>
          </a:xfrm>
          <a:prstGeom prst="roundRect">
            <a:avLst>
              <a:gd name="adj" fmla="val 1429"/>
            </a:avLst>
          </a:prstGeom>
          <a:solidFill>
            <a:srgbClr val="1E293B"/>
          </a:solidFill>
        </p:spPr>
      </p:sp>
      <p:sp>
        <p:nvSpPr>
          <p:cNvPr id="4" name="Text 2"/>
          <p:cNvSpPr/>
          <p:nvPr/>
        </p:nvSpPr>
        <p:spPr>
          <a:xfrm>
            <a:off x="640080" y="841248"/>
            <a:ext cx="78638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好的，这个拆分方案我接受。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现在请为 homepage-hero 生成完整的Spec文档。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文档结构要求：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1. 模块边界（包含什么/不包含什么）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2. 核心场景（WHEN/THEN/AND格式，覆盖正常+异常路径）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3. 数据结构（组件Props定义、类型与约束）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4. 验收标准（ACCEPTANCE Checklist）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技术约束：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React  + Next.js App Router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Tailwind CSS + shadcn/ui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响应式 (mobile-first)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next/image图片优化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输出保存为 specs/homepage-hero.md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四段式结构：边界 → 场景 → 数据结构 → 验收标准。每次生成一份A4就能做一个模块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/opsx:propose 输出的开发计划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1412748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2563EB"/>
          </a:solidFill>
        </p:spPr>
      </p:sp>
      <p:sp>
        <p:nvSpPr>
          <p:cNvPr id="4" name="Text 2"/>
          <p:cNvSpPr/>
          <p:nvPr/>
        </p:nvSpPr>
        <p:spPr>
          <a:xfrm>
            <a:off x="457200" y="1412748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指令：/opsx:propose “基于5份Spec制定首页开发计划”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60347"/>
            <a:ext cx="8229600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594360" y="1760347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48840" y="1760347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Spec单元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1760347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1760347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17547"/>
            <a:ext cx="82296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94360" y="2217547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1 (并行)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217547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hero + navigation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217547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纯静态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217547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无依赖·做完立即可见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74747"/>
            <a:ext cx="8229600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6" name="Text 14"/>
          <p:cNvSpPr/>
          <p:nvPr/>
        </p:nvSpPr>
        <p:spPr>
          <a:xfrm>
            <a:off x="594360" y="2674747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2 (串行)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2674747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destinations → community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674747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674747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先抽通用Card再复用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31947"/>
            <a:ext cx="82296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94360" y="3131947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Day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3131947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ai-entry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131947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依赖后端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131947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先UI壳+Mock，接口后补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AI负责生成计划，人负责判断并行度和优先级——这就是“人做决策、AI做执行”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如何通过superpower指令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驱动研发计划执行?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/opsx:apply 触发superPower自动套用规范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33956" cy="2468880"/>
          </a:xfrm>
          <a:prstGeom prst="roundRect">
            <a:avLst>
              <a:gd name="adj" fmla="val 378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7510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6596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加载上下文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91056"/>
            <a:ext cx="1659636" cy="1517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自动读取: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specs/homepage-hero.md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frontend.md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AGENTS.md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不需要你手动@文件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5748" y="777240"/>
            <a:ext cx="1933956" cy="2468880"/>
          </a:xfrm>
          <a:prstGeom prst="roundRect">
            <a:avLst>
              <a:gd name="adj" fmla="val 3783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7188" y="914400"/>
            <a:ext cx="17510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2908" y="1243584"/>
            <a:ext cx="16596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规范强制套用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2908" y="1591056"/>
            <a:ext cx="1659636" cy="1517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按frontend.md规则: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use client标注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shadcn/ui组件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next/image图片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777240"/>
            <a:ext cx="1933956" cy="2468880"/>
          </a:xfrm>
          <a:prstGeom prst="roundRect">
            <a:avLst>
              <a:gd name="adj" fmla="val 3783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914400"/>
            <a:ext cx="17510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91456" y="1243584"/>
            <a:ext cx="16596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91056"/>
            <a:ext cx="1659636" cy="1517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基于Spec场景生成: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WHEN/THEN→分支逻辑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Props→TypeScript接口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边界→异常处理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52844" y="777240"/>
            <a:ext cx="1933956" cy="2468880"/>
          </a:xfrm>
          <a:prstGeom prst="roundRect">
            <a:avLst>
              <a:gd name="adj" fmla="val 3783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4284" y="914400"/>
            <a:ext cx="17510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90004" y="1243584"/>
            <a:ext cx="16596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自动校验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90004" y="1591056"/>
            <a:ext cx="1659636" cy="1517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生成后自检: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Spec覆盖率校验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规范符合度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 失败自动debug(3轮)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</p:spPr>
      </p:sp>
      <p:sp>
        <p:nvSpPr>
          <p:cNvPr id="20" name="Text 18"/>
          <p:cNvSpPr/>
          <p:nvPr/>
        </p:nvSpPr>
        <p:spPr>
          <a:xfrm>
            <a:off x="640080" y="342900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没superPower: 手动@三个文件+说明规范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ECFDF5"/>
          </a:solidFill>
        </p:spPr>
      </p:sp>
      <p:sp>
        <p:nvSpPr>
          <p:cNvPr id="22" name="Text 20"/>
          <p:cNvSpPr/>
          <p:nvPr/>
        </p:nvSpPr>
        <p:spPr>
          <a:xfrm>
            <a:off x="4937760" y="342900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有superPower: /opsx:apply 一句搞定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superPower像汽车ESP——平时感觉不到，关键时刻自动救你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实际产出：Hero.tsx代码——规范自动套用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566160"/>
          </a:xfrm>
          <a:prstGeom prst="roundRect">
            <a:avLst>
              <a:gd name="adj" fmla="val 1538"/>
            </a:avLst>
          </a:prstGeom>
          <a:solidFill>
            <a:srgbClr val="1E293B"/>
          </a:solidFill>
        </p:spPr>
      </p:sp>
      <p:sp>
        <p:nvSpPr>
          <p:cNvPr id="4" name="Text 2"/>
          <p:cNvSpPr/>
          <p:nvPr/>
        </p:nvSpPr>
        <p:spPr>
          <a:xfrm>
            <a:off x="640080" y="841248"/>
            <a:ext cx="786384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components/homepage/Hero.tsx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'use client'  // ← frontend.md: 有交互必须标注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import Image from 'next/image'            // ← 规范: next/image优化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import { Input } from '@/components/ui/input'  // ← shadcn/ui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import { Search } from 'lucide-react'          // ← 规定图标库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import { useRouter } from 'next/navigation'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import { useState } from 'react'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export function Hero() 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const router = useRouter()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const [query, setQuery] = useState('')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const handleSearch = () =&gt; 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if (query.trim()) 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router.push(`/search?q=${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encodeURIComponent(query.slice(0, 100))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// ← Spec场景: WHEN超100字符 THEN截断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}`)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}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}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// ... 更多场景实现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}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每个注释都对应一条规范——不是AI“碰巧写对”，是规范强制套用的结果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利用AI进行首页验收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如何通过Spec交叉Review进行质量校验?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交叉Review的万能Prompt模板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560320"/>
          </a:xfrm>
          <a:prstGeom prst="roundRect">
            <a:avLst>
              <a:gd name="adj" fmla="val 2143"/>
            </a:avLst>
          </a:prstGeom>
          <a:solidFill>
            <a:srgbClr val="1E293B"/>
          </a:solidFill>
        </p:spPr>
      </p:sp>
      <p:sp>
        <p:nvSpPr>
          <p:cNvPr id="4" name="Text 2"/>
          <p:cNvSpPr/>
          <p:nvPr/>
        </p:nvSpPr>
        <p:spPr>
          <a:xfrm>
            <a:off x="640080" y="841248"/>
            <a:ext cx="786384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请对照 @specs/homepage-hero.md 的每条WHEN/THEN，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输出格式：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✅ 已覆盖：[场景] [描述]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❌ 未覆盖：[场景] — 缺失原因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 ⚠️ 超出Spec：[行为] — 风险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最后给出：覆盖率% + Action Items列表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640080" y="3474720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为什么这样做Review有效？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77640"/>
            <a:ext cx="23591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Spec=判断标准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325112"/>
            <a:ext cx="2359152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AI不是“觉得代码好不好”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而是“Spec写了这条，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代码有没有做到”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5264" y="384048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3977640"/>
            <a:ext cx="23591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交叉检查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2424" y="4325112"/>
            <a:ext cx="2359152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用另一轮AI检查前一轮AI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代码——避免“自己检查自己”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的盲区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384048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3977640"/>
            <a:ext cx="23591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结构化输出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4325112"/>
            <a:ext cx="2359152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✅/❌/⚠️三档分流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直接告诉你“要补什么”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不用你自己分析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AI输出的Review报告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C9394A"/>
          </a:solidFill>
        </p:spPr>
      </p:sp>
      <p:sp>
        <p:nvSpPr>
          <p:cNvPr id="10" name="Text 8"/>
          <p:cNvSpPr/>
          <p:nvPr/>
        </p:nvSpPr>
        <p:spPr>
          <a:xfrm>
            <a:off x="640080" y="3291840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Review成本账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75888"/>
            <a:ext cx="8229600" cy="34747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2" name="Text 10"/>
          <p:cNvSpPr/>
          <p:nvPr/>
        </p:nvSpPr>
        <p:spPr>
          <a:xfrm>
            <a:off x="594360" y="367588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发现时机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675888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修复成本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3675888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94360" y="40233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写完立即Review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402336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1x（追加一句Prompt）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402336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现在做★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8"/>
          <p:cNvSpPr/>
          <p:nvPr/>
        </p:nvSpPr>
        <p:spPr>
          <a:xfrm>
            <a:off x="594360" y="437083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联调时发现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437083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60x（调试+改前后端）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4370832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总要有人踩到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18304"/>
            <a:ext cx="82296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594360" y="471830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上线后用户报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4718304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240x（紧急修复+影响范围评估）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4718304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老板要发飞书了</a:t>
            </a:r>
            <a:endParaRPr lang="en-US" sz="11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620"/>
            <a:ext cx="3481070" cy="218376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140" y="834390"/>
            <a:ext cx="3449320" cy="2308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首页功能AI自动化测试和验收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Playwright是什么？——你的"AI质检实习生"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4114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9740" y="833120"/>
            <a:ext cx="804100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一句话：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微软开源的E2E测试框架，模拟真人操作浏览器。就像请了个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永远不会累的QA实习生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，写一次脚本跑一万次。</a:t>
            </a:r>
            <a:endParaRPr sz="1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468880" cy="18288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49860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520" y="1965960"/>
            <a:ext cx="226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跨浏览器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520" y="2240280"/>
            <a:ext cx="226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微软雅黑"/>
              </a:defRPr>
            </a:pPr>
            <a:r>
              <a:t>一套代码跑三大引擎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520" y="2514600"/>
            <a:ext cx="226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Chromium / Firefox / Safari</a:t>
            </a:r>
            <a:br/>
            <a:r>
              <a:t>不用分别写测试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71600"/>
            <a:ext cx="2468880" cy="18288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4986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720" y="1965960"/>
            <a:ext cx="226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跨设备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720" y="2240280"/>
            <a:ext cx="226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微软雅黑"/>
              </a:defRPr>
            </a:pPr>
            <a:r>
              <a:t>桌面 + 移动端一次覆盖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7720" y="2514600"/>
            <a:ext cx="226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桌面 1280×720</a:t>
            </a:r>
            <a:br/>
            <a:r>
              <a:t>移动端 375×667</a:t>
            </a:r>
            <a:br/>
            <a:r>
              <a:t>一套测试验证两种设备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71600"/>
            <a:ext cx="2468880" cy="182880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49860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0920" y="1965960"/>
            <a:ext cx="226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自动等待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0920" y="2240280"/>
            <a:ext cx="226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微软雅黑"/>
              </a:defRPr>
            </a:pPr>
            <a:r>
              <a:t>告别 sleep 和 waitFor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0920" y="2514600"/>
            <a:ext cx="226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框架自动处理异步</a:t>
            </a:r>
            <a:br/>
            <a:r>
              <a:t>页面加载、元素出现</a:t>
            </a:r>
            <a:br/>
            <a:r>
              <a:t>不用手动写等待逻辑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83280"/>
            <a:ext cx="8046720" cy="5943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8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与SDD的关系：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Spec里的每个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 WHEN/THEN 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→ Playwright里就是一个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 test() 块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→ Spec就是测试用例的需求文档</a:t>
            </a:r>
            <a:endParaRPr sz="1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384048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91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微软雅黑"/>
              </a:defRPr>
            </a:pPr>
            <a:r>
              <a:t>AI Review = 质检员看图纸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114800"/>
            <a:ext cx="4023360" cy="4572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191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/>
              </a:defRPr>
            </a:pPr>
            <a:r>
              <a:t>Playwright = 把产品真的跑一遍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实操Prompt——让AI根据Spec自动生成测试代码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5029200" cy="3347085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29640"/>
            <a:ext cx="4663440" cy="312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基于 </a:t>
            </a:r>
            <a:r>
              <a:rPr sz="1050" b="1">
                <a:solidFill>
                  <a:srgbClr val="27AE60"/>
                </a:solidFill>
                <a:latin typeface="微软雅黑"/>
              </a:rPr>
              <a:t>@specs/homepage-hero.md</a:t>
            </a:r>
            <a:r>
              <a:rPr sz="1050" b="0">
                <a:solidFill>
                  <a:srgbClr val="CCCCCC"/>
                </a:solidFill>
                <a:latin typeface="微软雅黑"/>
              </a:rPr>
              <a:t> 的所有 WHEN/THEN 场景，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生成对应的 E2E 测试文件。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FFD700"/>
                </a:solidFill>
                <a:latin typeface="微软雅黑"/>
              </a:rPr>
              <a:t>要求：</a:t>
            </a:r>
            <a:endParaRPr sz="1050" b="1">
              <a:solidFill>
                <a:srgbClr val="FFD70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1. 使用 Playwright 测试框架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2. 每个 WHEN/THEN 对应一个独立的 test() 块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3. 测试文件保存为 tests/e2e/homepage-hero.spec.ts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4. 需要处理异步等待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98FB98"/>
                </a:solidFill>
                <a:latin typeface="微软雅黑"/>
              </a:rPr>
              <a:t>5. 每个 test 开头注释标注 WHEN/THEN 编号</a:t>
            </a:r>
            <a:endParaRPr sz="1050" b="0">
              <a:solidFill>
                <a:srgbClr val="98FB98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050" b="0">
                <a:solidFill>
                  <a:srgbClr val="98FB98"/>
                </a:solidFill>
                <a:latin typeface="微软雅黑"/>
              </a:rPr>
              <a:t>6. 测试失败时自动截图保存</a:t>
            </a:r>
            <a:endParaRPr sz="1050" b="0">
              <a:solidFill>
                <a:srgbClr val="98FB98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FFD700"/>
                </a:solidFill>
                <a:latin typeface="微软雅黑"/>
              </a:rPr>
              <a:t>技术约束：</a:t>
            </a:r>
            <a:endParaRPr sz="1050" b="1">
              <a:solidFill>
                <a:srgbClr val="FFD70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- 测试URL：http://localhost:3000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CCCCC"/>
                </a:solidFill>
                <a:latin typeface="微软雅黑"/>
              </a:rPr>
              <a:t>- 桌面</a:t>
            </a:r>
            <a:r>
              <a:rPr lang="zh-CN" sz="1050" b="0">
                <a:solidFill>
                  <a:srgbClr val="CCCCCC"/>
                </a:solidFill>
                <a:latin typeface="微软雅黑"/>
              </a:rPr>
              <a:t>端</a:t>
            </a:r>
            <a:r>
              <a:rPr sz="1050" b="0">
                <a:solidFill>
                  <a:srgbClr val="CCCCCC"/>
                </a:solidFill>
                <a:latin typeface="微软雅黑"/>
              </a:rPr>
              <a:t>：1280×720 | 移动端：375×667</a:t>
            </a:r>
            <a:endParaRPr sz="1050" b="0">
              <a:solidFill>
                <a:srgbClr val="CCCCCC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98FB98"/>
                </a:solidFill>
                <a:latin typeface="微软雅黑"/>
              </a:rPr>
              <a:t>- 超时时间：单个测试30秒</a:t>
            </a:r>
            <a:endParaRPr sz="1050" b="0">
              <a:solidFill>
                <a:srgbClr val="98FB98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98FB98"/>
                </a:solidFill>
                <a:latin typeface="微软雅黑"/>
              </a:rPr>
              <a:t>- 使用 beforeEach 统一处理页面导航</a:t>
            </a:r>
            <a:endParaRPr sz="1050" b="0">
              <a:solidFill>
                <a:srgbClr val="98FB98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43270" y="1383030"/>
            <a:ext cx="320040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26150" y="1484630"/>
            <a:ext cx="283464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Prompt设计要点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980B9"/>
                </a:solidFill>
                <a:latin typeface="微软雅黑"/>
              </a:rPr>
              <a:t>Spec驱动</a:t>
            </a:r>
            <a:endParaRPr sz="1100" b="1">
              <a:solidFill>
                <a:srgbClr val="2980B9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950" b="0">
                <a:solidFill>
                  <a:srgbClr val="666666"/>
                </a:solidFill>
                <a:latin typeface="微软雅黑"/>
              </a:rPr>
              <a:t>@引用Spec文件，测试用例直接来源于需求文档</a:t>
            </a:r>
            <a:endParaRPr sz="95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一一对应</a:t>
            </a:r>
            <a:endParaRPr sz="11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950" b="0">
                <a:solidFill>
                  <a:srgbClr val="666666"/>
                </a:solidFill>
                <a:latin typeface="微软雅黑"/>
              </a:rPr>
              <a:t>每个WHEN/THEN → 一个test()块，可追溯</a:t>
            </a:r>
            <a:endParaRPr sz="95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双端覆盖</a:t>
            </a:r>
            <a:endParaRPr sz="1100" b="1">
              <a:solidFill>
                <a:srgbClr val="E67E22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950" b="0">
                <a:solidFill>
                  <a:srgbClr val="666666"/>
                </a:solidFill>
                <a:latin typeface="微软雅黑"/>
              </a:rPr>
              <a:t>桌面+移动端视口，一次测试覆盖两种设备</a:t>
            </a:r>
            <a:endParaRPr sz="95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绿色 = </a:t>
            </a:r>
            <a:r>
              <a:rPr lang="zh-CN" sz="1100" b="1">
                <a:solidFill>
                  <a:srgbClr val="27AE60"/>
                </a:solidFill>
                <a:latin typeface="微软雅黑"/>
              </a:rPr>
              <a:t>可调式性</a:t>
            </a:r>
            <a:r>
              <a:rPr sz="1100" b="1">
                <a:solidFill>
                  <a:srgbClr val="27AE60"/>
                </a:solidFill>
                <a:latin typeface="微软雅黑"/>
              </a:rPr>
              <a:t>建议</a:t>
            </a:r>
            <a:endParaRPr sz="11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微软雅黑"/>
              </a:rPr>
              <a:t>5/6条和底部约束是优化建议，提升可调试性</a:t>
            </a:r>
            <a:endParaRPr sz="95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777740"/>
            <a:ext cx="8229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chemeClr val="tx1"/>
                </a:solidFill>
                <a:uFillTx/>
                <a:latin typeface="微软雅黑"/>
              </a:rPr>
              <a:t>核心思路：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代码不是我写的，是AI根据Spec生成的。我做的事是"审查"——看它生成的测试对不对</a:t>
            </a:r>
            <a:endParaRPr sz="1100" b="1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代码解读——AI生成的测试长什么样？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606040" cy="3657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828040"/>
            <a:ext cx="245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test.describe 测试套件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61288"/>
            <a:ext cx="2606040" cy="281635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262888"/>
            <a:ext cx="2402840" cy="266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// 组织所有首页Hero测试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69CD6"/>
                </a:solidFill>
                <a:latin typeface="微软雅黑"/>
              </a:rPr>
              <a:t>test.describe</a:t>
            </a:r>
            <a:endParaRPr sz="900" b="1">
              <a:solidFill>
                <a:srgbClr val="569CD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('首页Hero模块', () =&gt; {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69CD6"/>
                </a:solidFill>
                <a:latin typeface="微软雅黑"/>
              </a:rPr>
              <a:t>  test.beforeEach</a:t>
            </a:r>
            <a:endParaRPr sz="900" b="1">
              <a:solidFill>
                <a:srgbClr val="569CD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   (async ({ page }) =&gt; {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DCAA"/>
                </a:solidFill>
                <a:latin typeface="微软雅黑"/>
              </a:rPr>
              <a:t>    await page.goto</a:t>
            </a:r>
            <a:endParaRPr sz="900" b="1">
              <a:solidFill>
                <a:srgbClr val="DCDCAA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7AE60"/>
                </a:solidFill>
                <a:latin typeface="微软雅黑"/>
              </a:rPr>
              <a:t>      ('/');</a:t>
            </a:r>
            <a:endParaRPr sz="90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 });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  // 每个test()在这里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  // ...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});</a:t>
            </a:r>
            <a:endParaRPr sz="9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00400" y="777240"/>
            <a:ext cx="260604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600" y="828040"/>
            <a:ext cx="245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test() 单个测试块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61288"/>
            <a:ext cx="2606040" cy="281635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2000" y="1262888"/>
            <a:ext cx="2402840" cy="266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// WHEN-01: 用户访问首页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69CD6"/>
                </a:solidFill>
                <a:latin typeface="微软雅黑"/>
              </a:rPr>
              <a:t>test</a:t>
            </a:r>
            <a:endParaRPr sz="900" b="1">
              <a:solidFill>
                <a:srgbClr val="569CD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7AE60"/>
                </a:solidFill>
                <a:latin typeface="微软雅黑"/>
              </a:rPr>
              <a:t>('展示Hero标题',</a:t>
            </a:r>
            <a:endParaRPr sz="90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 async ({ page }) =&gt; {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  // THEN: 标题可见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 const title =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7AE60"/>
                </a:solidFill>
                <a:latin typeface="微软雅黑"/>
              </a:rPr>
              <a:t>    page.locator('h1');</a:t>
            </a:r>
            <a:endParaRPr sz="90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DCAA"/>
                </a:solidFill>
                <a:latin typeface="微软雅黑"/>
              </a:rPr>
              <a:t>  await expect</a:t>
            </a:r>
            <a:endParaRPr sz="900" b="1">
              <a:solidFill>
                <a:srgbClr val="DCDCAA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   (title)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DCAA"/>
                </a:solidFill>
                <a:latin typeface="微软雅黑"/>
              </a:rPr>
              <a:t>    .toBeVisible();</a:t>
            </a:r>
            <a:endParaRPr sz="900" b="1">
              <a:solidFill>
                <a:srgbClr val="DCDCAA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});</a:t>
            </a:r>
            <a:endParaRPr sz="9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777240"/>
            <a:ext cx="26060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9800" y="828040"/>
            <a:ext cx="245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expect 断言验证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161288"/>
            <a:ext cx="2606040" cy="281635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5200" y="1262888"/>
            <a:ext cx="2402840" cy="266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// 常用断言模式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// 元素可见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expect(locator)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DCAA"/>
                </a:solidFill>
                <a:latin typeface="微软雅黑"/>
              </a:rPr>
              <a:t>  .toBeVisible();</a:t>
            </a:r>
            <a:endParaRPr sz="900" b="1">
              <a:solidFill>
                <a:srgbClr val="DCDCAA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// 文本内容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expect(locator)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DCAA"/>
                </a:solidFill>
                <a:latin typeface="微软雅黑"/>
              </a:rPr>
              <a:t>  .toHaveText('...');</a:t>
            </a:r>
            <a:endParaRPr sz="900" b="1">
              <a:solidFill>
                <a:srgbClr val="DCDCAA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 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微软雅黑"/>
              </a:rPr>
              <a:t>// 可点击</a:t>
            </a:r>
            <a:endParaRPr sz="900" b="0">
              <a:solidFill>
                <a:srgbClr val="999999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</a:rPr>
              <a:t>expect(btn)</a:t>
            </a:r>
            <a:endParaRPr sz="9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DCAA"/>
                </a:solidFill>
                <a:latin typeface="微软雅黑"/>
              </a:rPr>
              <a:t>  .toBeEnabled();</a:t>
            </a:r>
            <a:endParaRPr sz="900" b="1">
              <a:solidFill>
                <a:srgbClr val="DCDCAA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96155"/>
            <a:ext cx="8229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chemeClr val="tx1"/>
                </a:solidFill>
                <a:uFillTx/>
                <a:latin typeface="微软雅黑"/>
              </a:rPr>
              <a:t>Spec → test() 映射：</a:t>
            </a:r>
            <a:r>
              <a:rPr sz="1100" b="0">
                <a:solidFill>
                  <a:schemeClr val="tx1"/>
                </a:solidFill>
                <a:uFillTx/>
                <a:latin typeface="微软雅黑"/>
              </a:rPr>
              <a:t>WHEN/THEN编号写在注释里 → 出了问题能快速定位是哪条验收标准没过</a:t>
            </a:r>
            <a:endParaRPr sz="1100" b="0">
              <a:solidFill>
                <a:schemeClr val="tx1"/>
              </a:solidFill>
              <a:uFillTx/>
              <a:latin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运行测试——30秒知道有没有改坏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457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53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$ </a:t>
            </a:r>
            <a:r>
              <a:rPr sz="1200" b="0">
                <a:solidFill>
                  <a:srgbClr val="CCCCCC"/>
                </a:solidFill>
                <a:latin typeface="微软雅黑"/>
              </a:rPr>
              <a:t>npx playwright test tests/e2e/homepage-hero.spec.ts</a:t>
            </a:r>
            <a:endParaRPr sz="1200" b="0">
              <a:solidFill>
                <a:srgbClr val="CCCCCC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931920" cy="2560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892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27AE60"/>
                </a:solidFill>
                <a:latin typeface="微软雅黑"/>
              </a:rPr>
              <a:t>全部通过 ✓</a:t>
            </a:r>
            <a:endParaRPr sz="1400" b="1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Hero标题展示 (1.2s)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CTA按钮可点击 (0.8s)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城市筛选功能 (1.5s)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图片懒加载 (2.1s)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移动端响应式 (1.8s)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5 passed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(7.4s)</a:t>
            </a:r>
            <a:endParaRPr sz="1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0" y="1417320"/>
            <a:ext cx="3931920" cy="256032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1892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C9394A"/>
                </a:solidFill>
                <a:latin typeface="微软雅黑"/>
              </a:rPr>
              <a:t>有失败 ✗ ← 这才是价值所在</a:t>
            </a:r>
            <a:endParaRPr sz="14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Hero标题展示 (1.2s)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C9394A"/>
                </a:solidFill>
                <a:latin typeface="微软雅黑"/>
              </a:rPr>
              <a:t>✗ CTA按钮跳转 (3.2s)</a:t>
            </a:r>
            <a:endParaRPr sz="105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50" b="0">
                <a:solidFill>
                  <a:srgbClr val="C9394A"/>
                </a:solidFill>
                <a:latin typeface="微软雅黑"/>
              </a:rPr>
              <a:t>  Error: Expected "/explore"</a:t>
            </a:r>
            <a:endParaRPr sz="950" b="0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950" b="0">
                <a:solidFill>
                  <a:srgbClr val="C9394A"/>
                </a:solidFill>
                <a:latin typeface="微软雅黑"/>
              </a:rPr>
              <a:t>  Received: "/login"</a:t>
            </a:r>
            <a:endParaRPr sz="950" b="0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50" b="0">
                <a:solidFill>
                  <a:srgbClr val="27AE60"/>
                </a:solidFill>
                <a:latin typeface="微软雅黑"/>
              </a:rPr>
              <a:t>✓ 城市筛选功能 (1.5s)</a:t>
            </a:r>
            <a:endParaRPr sz="1050" b="0">
              <a:solidFill>
                <a:srgbClr val="27AE60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4 passed, 1 failed</a:t>
            </a:r>
            <a:r>
              <a:rPr sz="1200" b="0">
                <a:solidFill>
                  <a:srgbClr val="666666"/>
                </a:solidFill>
                <a:latin typeface="微软雅黑"/>
              </a:rPr>
              <a:t> (9.1s)</a:t>
            </a:r>
            <a:endParaRPr sz="12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80467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4223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全部通过 = </a:t>
            </a:r>
            <a:r>
              <a:rPr sz="1100" b="1">
                <a:solidFill>
                  <a:srgbClr val="27AE60"/>
                </a:solidFill>
                <a:latin typeface="微软雅黑"/>
              </a:rPr>
              <a:t>代码完全覆盖Spec验收标准    </a:t>
            </a:r>
            <a:r>
              <a:rPr sz="1100" b="1">
                <a:solidFill>
                  <a:srgbClr val="333333"/>
                </a:solidFill>
                <a:latin typeface="微软雅黑"/>
              </a:rPr>
              <a:t>|    有失败 = </a:t>
            </a:r>
            <a:r>
              <a:rPr sz="1100" b="1">
                <a:solidFill>
                  <a:srgbClr val="C9394A"/>
                </a:solidFill>
                <a:latin typeface="微软雅黑"/>
              </a:rPr>
              <a:t>代码和Spec之间有gap，改代码或改Spec</a:t>
            </a:r>
            <a:endParaRPr sz="1100" b="1">
              <a:solidFill>
                <a:srgbClr val="C9394A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Trace Viewer——测试失败了？看"录像回放"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36576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9394A"/>
                </a:solidFill>
                <a:latin typeface="微软雅黑"/>
              </a:rPr>
              <a:t>类比：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Trace Viewer就像给每次测试</a:t>
            </a:r>
            <a:r>
              <a:rPr sz="1100" b="1">
                <a:solidFill>
                  <a:srgbClr val="C9394A"/>
                </a:solidFill>
                <a:latin typeface="微软雅黑"/>
              </a:rPr>
              <a:t>录了个视频回放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，失败的时候一帧一帧看哪里出了问题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828800" cy="16459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427480"/>
            <a:ext cx="384048" cy="38404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828800"/>
            <a:ext cx="167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运行命令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148840"/>
            <a:ext cx="167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npx playwright test</a:t>
            </a:r>
            <a:br/>
            <a:r>
              <a:t>--trace 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11400" y="1920240"/>
            <a:ext cx="13208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325880"/>
            <a:ext cx="1828800" cy="16459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54680" y="1427480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5080" y="1828800"/>
            <a:ext cx="167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自动生成Trace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5080" y="2148840"/>
            <a:ext cx="167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每个test()块生成</a:t>
            </a:r>
            <a:br/>
            <a:r>
              <a:t>一份trace.zip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23080" y="1920240"/>
            <a:ext cx="13208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1828800" cy="164592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66360" y="1427480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1828800"/>
            <a:ext cx="167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微软雅黑"/>
              </a:defRPr>
            </a:pPr>
            <a:r>
              <a:t>打开Viewer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2148840"/>
            <a:ext cx="167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npx playwright</a:t>
            </a:r>
            <a:br/>
            <a:r>
              <a:t>show-trace trace.zip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334760" y="1920240"/>
            <a:ext cx="13208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325880"/>
            <a:ext cx="1828800" cy="164592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78040" y="1427480"/>
            <a:ext cx="384048" cy="384048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8440" y="1828800"/>
            <a:ext cx="167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  <a:latin typeface="微软雅黑"/>
              </a:defRPr>
            </a:pPr>
            <a:r>
              <a:t>逐帧排查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8440" y="2148840"/>
            <a:ext cx="167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截图 + DOM快照</a:t>
            </a:r>
            <a:br/>
            <a:r>
              <a:t>+ 网络请求记录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00400"/>
            <a:ext cx="8046720" cy="1325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2740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C9394A"/>
                </a:solidFill>
                <a:latin typeface="微软雅黑"/>
              </a:rPr>
              <a:t>现场演示：定位一个失败测试</a:t>
            </a:r>
            <a:endParaRPr sz="13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场景：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CTA按钮点击后期望跳转到 /explore，实际跳到了 /login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67E22"/>
                </a:solidFill>
                <a:latin typeface="微软雅黑"/>
              </a:rPr>
              <a:t>Trace发现：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按钮点击触发了登录拦截中间件，用户未登录时被redirect到登录页</a:t>
            </a:r>
            <a:endParaRPr sz="110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修复：</a:t>
            </a:r>
            <a:r>
              <a:rPr sz="1100" b="0">
                <a:solidFill>
                  <a:srgbClr val="666666"/>
                </a:solidFill>
                <a:latin typeface="微软雅黑"/>
              </a:rPr>
              <a:t>在beforeEach中模拟已登录状态（注入JWT token），或者调整Spec：CTA对未登录用户跳转登录页</a:t>
            </a:r>
            <a:endParaRPr sz="11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本节总结——自动化测试的三个核心要点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8046720" cy="96012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000760"/>
            <a:ext cx="411480" cy="411480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2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394A"/>
                </a:solidFill>
                <a:latin typeface="微软雅黑"/>
              </a:defRPr>
            </a:pPr>
            <a:r>
              <a:t>Spec是测试的源头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24560"/>
            <a:ext cx="1097280" cy="274320"/>
          </a:xfrm>
          <a:prstGeom prst="round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949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从源头保障质量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0396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不是先写代码再补测试，而是Spec写完，测试用例就确定了</a:t>
            </a:r>
            <a:br/>
            <a:r>
              <a:t>WHEN/THEN → test() 一一对应，可追溯、可验收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8046720" cy="96012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098040"/>
            <a:ext cx="411480" cy="41148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2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微软雅黑"/>
              </a:defRPr>
            </a:pPr>
            <a:r>
              <a:t>AI写测试，你审测试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21840"/>
            <a:ext cx="1097280" cy="2743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047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人机协作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012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角色分工：AI负责把Spec翻译成Playwright代码</a:t>
            </a:r>
            <a:br/>
            <a:r>
              <a:t>你负责判断测试覆盖是否完整、断言是否合理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8046720" cy="9601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19532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1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/>
              </a:defRPr>
            </a:pPr>
            <a:r>
              <a:t>自动化测试是安全网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119120"/>
            <a:ext cx="109728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1445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持续保障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985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每次改代码跑一遍，30秒知道有没有改坏</a:t>
            </a:r>
            <a:br/>
            <a:r>
              <a:t>测试通过率就是你的"代码健康度仪表盘"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804672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81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在SDD流程中的位置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2980B9"/>
                </a:solidFill>
                <a:latin typeface="微软雅黑"/>
              </a:rPr>
              <a:t>Specify</a:t>
            </a:r>
            <a:r>
              <a:rPr sz="1050" b="0">
                <a:solidFill>
                  <a:srgbClr val="666666"/>
                </a:solidFill>
                <a:latin typeface="微软雅黑"/>
              </a:rPr>
              <a:t>(产出Spec) → </a:t>
            </a:r>
            <a:r>
              <a:rPr sz="1050" b="1">
                <a:solidFill>
                  <a:srgbClr val="27AE60"/>
                </a:solidFill>
                <a:latin typeface="微软雅黑"/>
              </a:rPr>
              <a:t>Implement</a:t>
            </a:r>
            <a:r>
              <a:rPr sz="1050" b="0">
                <a:solidFill>
                  <a:srgbClr val="666666"/>
                </a:solidFill>
                <a:latin typeface="微软雅黑"/>
              </a:rPr>
              <a:t>(产出代码) → </a:t>
            </a:r>
            <a:r>
              <a:rPr sz="1050" b="1">
                <a:solidFill>
                  <a:srgbClr val="C9394A"/>
                </a:solidFill>
                <a:latin typeface="微软雅黑"/>
              </a:rPr>
              <a:t>Verify</a:t>
            </a:r>
            <a:r>
              <a:rPr sz="1050" b="0">
                <a:solidFill>
                  <a:srgbClr val="666666"/>
                </a:solidFill>
                <a:latin typeface="微软雅黑"/>
              </a:rPr>
              <a:t>(</a:t>
            </a:r>
            <a:r>
              <a:rPr sz="1050" b="1">
                <a:solidFill>
                  <a:srgbClr val="C9394A"/>
                </a:solidFill>
                <a:latin typeface="微软雅黑"/>
              </a:rPr>
              <a:t>AI Review + Playwright测试</a:t>
            </a:r>
            <a:r>
              <a:rPr sz="1050" b="0">
                <a:solidFill>
                  <a:srgbClr val="666666"/>
                </a:solidFill>
                <a:latin typeface="微软雅黑"/>
              </a:rPr>
              <a:t> = 组合拳)</a:t>
            </a:r>
            <a:endParaRPr sz="105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69485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微软雅黑"/>
              </a:rPr>
              <a:t>AI Review是"看图纸验货"，Playwright是"把产品真的跑一遍"。两个都做，质量保障才算完整。</a:t>
            </a:r>
            <a:endParaRPr sz="1100" b="1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本章内容概览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046720" cy="658368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904240"/>
            <a:ext cx="384048" cy="384048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904240"/>
            <a:ext cx="1097280" cy="2743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929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需求拆解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9042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如何将需求分解为可执行的Spec单元？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45336"/>
            <a:ext cx="8046720" cy="658368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672336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672336"/>
            <a:ext cx="109728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69773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开发规划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72336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如何制定首页功能开发计划？如何通过openSpec指令快速生成？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13432"/>
            <a:ext cx="8046720" cy="658368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440432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440432"/>
            <a:ext cx="1097280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4658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指令驱动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44043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如何通过superpower指令驱动研发计划执行？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81528"/>
            <a:ext cx="8046720" cy="658368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208528"/>
            <a:ext cx="384048" cy="384048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208528"/>
            <a:ext cx="1097280" cy="274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2339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质量校验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20852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利用AI进行首页验收——如何通过Spec交叉Review进行质量校验？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9624"/>
            <a:ext cx="8046720" cy="658368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976624"/>
            <a:ext cx="384048" cy="384048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976624"/>
            <a:ext cx="1097280" cy="274320"/>
          </a:xfrm>
          <a:prstGeom prst="round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0020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自动化测试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97662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首页功能AI自动化测试和验收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C9394A"/>
                </a:solidFill>
                <a:latin typeface="微软雅黑"/>
              </a:defRPr>
            </a:pPr>
            <a:r>
              <a:t>本章总结——五环链路，一环扣一环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463040" cy="13716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" y="899160"/>
            <a:ext cx="347472" cy="347472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34440"/>
            <a:ext cx="131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微软雅黑"/>
              </a:defRPr>
            </a:pPr>
            <a:r>
              <a:t>拆Spec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481328"/>
            <a:ext cx="131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需求分解为</a:t>
            </a:r>
            <a:br/>
            <a:r>
              <a:t>可执行单元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874520"/>
            <a:ext cx="131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微软雅黑"/>
              </a:defRPr>
            </a:pPr>
            <a:r>
              <a:t>拆得越细</a:t>
            </a:r>
            <a:br/>
            <a:r>
              <a:t>AI干活越准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2940" y="132588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57400" y="822960"/>
            <a:ext cx="1463040" cy="137160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87752" y="899160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3600" y="1234440"/>
            <a:ext cx="131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微软雅黑"/>
              </a:defRPr>
            </a:pPr>
            <a:r>
              <a:t>排计划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600" y="1481328"/>
            <a:ext cx="131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优先级排序</a:t>
            </a:r>
            <a:br/>
            <a:r>
              <a:t>openSpec生成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1874520"/>
            <a:ext cx="131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微软雅黑"/>
              </a:defRPr>
            </a:pPr>
            <a:r>
              <a:t>重复劳动</a:t>
            </a:r>
            <a:br/>
            <a:r>
              <a:t>→ 一键操作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33140" y="132588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822960"/>
            <a:ext cx="1463040" cy="137160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87952" y="899160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800" y="1234440"/>
            <a:ext cx="131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微软雅黑"/>
              </a:defRPr>
            </a:pPr>
            <a:r>
              <a:t>写代码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3800" y="1481328"/>
            <a:ext cx="131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superpower</a:t>
            </a:r>
            <a:br/>
            <a:r>
              <a:t>驱动执行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3800" y="1874520"/>
            <a:ext cx="131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微软雅黑"/>
              </a:defRPr>
            </a:pPr>
            <a:r>
              <a:t>Spec约束</a:t>
            </a:r>
            <a:br/>
            <a:r>
              <a:t>AI行为边界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33340" y="132588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57800" y="822960"/>
            <a:ext cx="1463040" cy="137160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88152" y="899160"/>
            <a:ext cx="347472" cy="34747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1234440"/>
            <a:ext cx="131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  <a:latin typeface="微软雅黑"/>
              </a:defRPr>
            </a:pPr>
            <a:r>
              <a:t>审代码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1481328"/>
            <a:ext cx="131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AI交叉Review</a:t>
            </a:r>
            <a:br/>
            <a:r>
              <a:t>Spec验代码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1874520"/>
            <a:ext cx="131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微软雅黑"/>
              </a:defRPr>
            </a:pPr>
            <a:r>
              <a:t>1倍 vs 240倍</a:t>
            </a:r>
            <a:br/>
            <a:r>
              <a:t>修复成本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733540" y="1325880"/>
            <a:ext cx="1117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822960"/>
            <a:ext cx="1463040" cy="13716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88352" y="899160"/>
            <a:ext cx="347472" cy="347472"/>
          </a:xfrm>
          <a:prstGeom prst="ellipse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4200" y="1234440"/>
            <a:ext cx="131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9394A"/>
                </a:solidFill>
                <a:latin typeface="微软雅黑"/>
              </a:defRPr>
            </a:pPr>
            <a:r>
              <a:t>跑测试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4200" y="1481328"/>
            <a:ext cx="131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333333"/>
                </a:solidFill>
                <a:latin typeface="微软雅黑"/>
              </a:defRPr>
            </a:pPr>
            <a:r>
              <a:t>Playwright</a:t>
            </a:r>
            <a:br/>
            <a:r>
              <a:t>自动化测试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4200" y="1874520"/>
            <a:ext cx="131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999999"/>
                </a:solidFill>
                <a:latin typeface="微软雅黑"/>
              </a:defRPr>
            </a:pPr>
            <a:r>
              <a:t>30秒跑完</a:t>
            </a:r>
            <a:br/>
            <a:r>
              <a:t>所有验收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423160"/>
            <a:ext cx="8046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4993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核心思想：</a:t>
            </a:r>
            <a:r>
              <a:rPr sz="1200" b="1">
                <a:solidFill>
                  <a:srgbClr val="333333"/>
                </a:solidFill>
                <a:latin typeface="微软雅黑"/>
              </a:rPr>
              <a:t>每一步都有明确的</a:t>
            </a:r>
            <a:r>
              <a:rPr sz="1200" b="1">
                <a:solidFill>
                  <a:srgbClr val="C9394A"/>
                </a:solidFill>
                <a:latin typeface="微软雅黑"/>
              </a:rPr>
              <a:t>输入、产出、验收标准</a:t>
            </a:r>
            <a:r>
              <a:rPr sz="1200" b="1">
                <a:solidFill>
                  <a:srgbClr val="333333"/>
                </a:solidFill>
                <a:latin typeface="微软雅黑"/>
              </a:rPr>
              <a:t> — 不是"凭感觉开发"，而是"按规范执行"</a:t>
            </a:r>
            <a:endParaRPr sz="12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7200" y="3108960"/>
            <a:ext cx="3840480" cy="105156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35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2980B9"/>
                </a:solidFill>
                <a:latin typeface="微软雅黑"/>
              </a:rPr>
              <a:t>开发者的核心竞争力</a:t>
            </a:r>
            <a:endParaRPr sz="1200" b="1">
              <a:solidFill>
                <a:srgbClr val="2980B9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微软雅黑"/>
              </a:rPr>
              <a:t>不是"写代码写得多快"</a:t>
            </a:r>
            <a:endParaRPr sz="105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微软雅黑"/>
              </a:rPr>
              <a:t>而是"需求拆得清、Spec写得准、验收定得明"</a:t>
            </a:r>
            <a:endParaRPr sz="105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480560" y="3108960"/>
            <a:ext cx="4023360" cy="105156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2359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9394A"/>
                </a:solidFill>
                <a:latin typeface="微软雅黑"/>
              </a:rPr>
              <a:t>人机分工</a:t>
            </a:r>
            <a:endParaRPr sz="1200" b="1">
              <a:solidFill>
                <a:srgbClr val="C9394A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微软雅黑"/>
              </a:rPr>
              <a:t>AI负责：写代码、跑测试、做Review</a:t>
            </a:r>
            <a:endParaRPr sz="1050" b="0">
              <a:solidFill>
                <a:srgbClr val="666666"/>
              </a:solidFill>
              <a:latin typeface="微软雅黑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微软雅黑"/>
              </a:rPr>
              <a:t>人负责："做什么、做到什么程度算完"</a:t>
            </a:r>
            <a:endParaRPr sz="105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371600" y="4297680"/>
            <a:ext cx="6400800" cy="2540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992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微软雅黑"/>
              </a:rPr>
              <a:t>不是学怎么用AI写代码，而是学怎么用Spec驱动AI写对代码。</a:t>
            </a:r>
            <a:endParaRPr sz="1300" b="1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9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PA" val="v3.0.1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MGRjODRhYWQxYThhYzQ5MjM3MTY5N2VkYzFjOWUzZ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5836</Words>
  <Application>WPS 演示</Application>
  <PresentationFormat>On-screen Show (16:9)</PresentationFormat>
  <Paragraphs>547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Meiryo</vt:lpstr>
      <vt:lpstr>方正兰亭黑简体</vt:lpstr>
      <vt:lpstr>微软雅黑</vt:lpstr>
      <vt:lpstr>汉仪旗黑</vt:lpstr>
      <vt:lpstr>微软雅黑</vt:lpstr>
      <vt:lpstr>Courier New</vt:lpstr>
      <vt:lpstr>Courier New</vt:lpstr>
      <vt:lpstr>Courier New</vt:lpstr>
      <vt:lpstr>Calibri</vt:lpstr>
      <vt:lpstr>Helvetica Neue</vt:lpstr>
      <vt:lpstr>Hiragino Sans</vt:lpstr>
      <vt:lpstr>宋体</vt:lpstr>
      <vt:lpstr>Arial Unicode MS</vt:lpstr>
      <vt:lpstr>等线</vt:lpstr>
      <vt:lpstr>汉仪中等线KW</vt:lpstr>
      <vt:lpstr>微软雅黑</vt:lpstr>
      <vt:lpstr>汉仪书宋二KW</vt:lpstr>
      <vt:lpstr>Apple Color Emoji</vt:lpstr>
      <vt:lpstr>儷宋 Pro</vt:lpstr>
      <vt:lpstr>汉仪中黑KW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MOOC Course</dc:creator>
  <dc:subject>PptxGenJS Presentation</dc:subject>
  <cp:lastModifiedBy>熙</cp:lastModifiedBy>
  <cp:revision>15</cp:revision>
  <dcterms:created xsi:type="dcterms:W3CDTF">2026-06-04T16:28:22Z</dcterms:created>
  <dcterms:modified xsi:type="dcterms:W3CDTF">2026-06-04T16:28:22Z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975F81BB279F53394E021C6AB5455A5D_42</vt:lpwstr>
  </property>
  <property fmtid="{D5CDD505-2E9C-101B-9397-08002B2CF9AE}" pid="3" name="KSOProductBuildVer">
    <vt:lpwstr>2052-6.9.0.8865</vt:lpwstr>
  </property>
</Properties>
</file>