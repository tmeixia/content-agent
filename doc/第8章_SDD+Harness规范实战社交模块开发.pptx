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6"/>
  </p:notesMasterIdLst>
  <p:sldIdLst>
    <p:sldId id="286" r:id="rId4"/>
    <p:sldId id="324" r:id="rId5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287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53" r:id="rId29"/>
    <p:sldId id="391" r:id="rId30"/>
    <p:sldId id="347" r:id="rId31"/>
    <p:sldId id="348" r:id="rId32"/>
    <p:sldId id="349" r:id="rId33"/>
    <p:sldId id="350" r:id="rId34"/>
    <p:sldId id="351" r:id="rId35"/>
    <p:sldId id="352" r:id="rId36"/>
    <p:sldId id="288" r:id="rId37"/>
    <p:sldId id="392" r:id="rId38"/>
    <p:sldId id="393" r:id="rId39"/>
    <p:sldId id="394" r:id="rId40"/>
    <p:sldId id="395" r:id="rId41"/>
    <p:sldId id="396" r:id="rId42"/>
    <p:sldId id="397" r:id="rId43"/>
    <p:sldId id="398" r:id="rId44"/>
    <p:sldId id="399" r:id="rId45"/>
    <p:sldId id="289" r:id="rId46"/>
    <p:sldId id="431" r:id="rId47"/>
    <p:sldId id="432" r:id="rId48"/>
    <p:sldId id="434" r:id="rId49"/>
    <p:sldId id="435" r:id="rId50"/>
    <p:sldId id="436" r:id="rId51"/>
    <p:sldId id="437" r:id="rId52"/>
    <p:sldId id="438" r:id="rId53"/>
    <p:sldId id="293" r:id="rId54"/>
    <p:sldId id="439" r:id="rId55"/>
    <p:sldId id="440" r:id="rId56"/>
    <p:sldId id="441" r:id="rId57"/>
    <p:sldId id="442" r:id="rId58"/>
    <p:sldId id="443" r:id="rId59"/>
    <p:sldId id="444" r:id="rId60"/>
    <p:sldId id="445" r:id="rId61"/>
    <p:sldId id="446" r:id="rId62"/>
  </p:sldIdLst>
  <p:sldSz cx="9144000" cy="5143500"/>
  <p:notesSz cx="5143500" cy="9144000"/>
  <p:custDataLst>
    <p:tags r:id="rId6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6" Type="http://schemas.openxmlformats.org/officeDocument/2006/relationships/tags" Target="tags/tag18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0" y="3329929"/>
            <a:ext cx="9142810" cy="68690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3" name="TextBox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9489" y="3467784"/>
            <a:ext cx="322178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algn="ctr"/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Freeform 5"/>
          <p:cNvSpPr/>
          <p:nvPr>
            <p:custDataLst>
              <p:tags r:id="rId3"/>
            </p:custDataLst>
          </p:nvPr>
        </p:nvSpPr>
        <p:spPr bwMode="auto">
          <a:xfrm rot="1855731">
            <a:off x="3071186" y="756255"/>
            <a:ext cx="480168" cy="43292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6" name="Freeform 5"/>
          <p:cNvSpPr/>
          <p:nvPr>
            <p:custDataLst>
              <p:tags r:id="rId4"/>
            </p:custDataLst>
          </p:nvPr>
        </p:nvSpPr>
        <p:spPr bwMode="auto">
          <a:xfrm rot="1855731">
            <a:off x="4061994" y="706021"/>
            <a:ext cx="256127" cy="23092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7" name="Freeform 5"/>
          <p:cNvSpPr/>
          <p:nvPr>
            <p:custDataLst>
              <p:tags r:id="rId5"/>
            </p:custDataLst>
          </p:nvPr>
        </p:nvSpPr>
        <p:spPr bwMode="auto">
          <a:xfrm rot="1855731">
            <a:off x="2331235" y="901917"/>
            <a:ext cx="254888" cy="229810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8" name="Freeform 5"/>
          <p:cNvSpPr/>
          <p:nvPr>
            <p:custDataLst>
              <p:tags r:id="rId6"/>
            </p:custDataLst>
          </p:nvPr>
        </p:nvSpPr>
        <p:spPr bwMode="auto">
          <a:xfrm rot="1855731">
            <a:off x="4769497" y="871661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9" name="Freeform 5"/>
          <p:cNvSpPr/>
          <p:nvPr>
            <p:custDataLst>
              <p:tags r:id="rId7"/>
            </p:custDataLst>
          </p:nvPr>
        </p:nvSpPr>
        <p:spPr bwMode="auto">
          <a:xfrm rot="1855731">
            <a:off x="5615878" y="774997"/>
            <a:ext cx="173846" cy="156742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30" name="Freeform 5"/>
          <p:cNvSpPr/>
          <p:nvPr>
            <p:custDataLst>
              <p:tags r:id="rId8"/>
            </p:custDataLst>
          </p:nvPr>
        </p:nvSpPr>
        <p:spPr bwMode="auto">
          <a:xfrm rot="1855731">
            <a:off x="6314536" y="807438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481845" y="2703476"/>
            <a:ext cx="2108646" cy="1901183"/>
            <a:chOff x="3720691" y="2824413"/>
            <a:chExt cx="1341120" cy="1209172"/>
          </a:xfrm>
        </p:grpSpPr>
        <p:sp>
          <p:nvSpPr>
            <p:cNvPr id="32" name="Freeform 5"/>
            <p:cNvSpPr/>
            <p:nvPr>
              <p:custDataLst>
                <p:tags r:id="rId9"/>
              </p:custDataLst>
            </p:nvPr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  <p:sp>
          <p:nvSpPr>
            <p:cNvPr id="33" name="Freeform 5"/>
            <p:cNvSpPr/>
            <p:nvPr>
              <p:custDataLst>
                <p:tags r:id="rId10"/>
              </p:custDataLst>
            </p:nvPr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>
                    <a:lumMod val="50000"/>
                    <a:lumOff val="50000"/>
                  </a:srgbClr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</p:grpSp>
      <p:grpSp>
        <p:nvGrpSpPr>
          <p:cNvPr id="35" name="71"/>
          <p:cNvGrpSpPr/>
          <p:nvPr>
            <p:custDataLst>
              <p:tags r:id="rId11"/>
            </p:custDataLst>
          </p:nvPr>
        </p:nvGrpSpPr>
        <p:grpSpPr>
          <a:xfrm>
            <a:off x="1655445" y="1528445"/>
            <a:ext cx="6053455" cy="1397000"/>
            <a:chOff x="4304043" y="1286668"/>
            <a:chExt cx="3837944" cy="2757793"/>
          </a:xfrm>
          <a:effectLst>
            <a:outerShdw blurRad="203200" dist="1524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6" name="72"/>
            <p:cNvSpPr/>
            <p:nvPr>
              <p:custDataLst>
                <p:tags r:id="rId12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37" name="73"/>
            <p:cNvSpPr/>
            <p:nvPr>
              <p:custDataLst>
                <p:tags r:id="rId13"/>
              </p:custDataLst>
            </p:nvPr>
          </p:nvSpPr>
          <p:spPr>
            <a:xfrm>
              <a:off x="4351930" y="1373339"/>
              <a:ext cx="3764602" cy="2584451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38" name="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674495" y="1741170"/>
            <a:ext cx="5994400" cy="101473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SDD+Harness规范实战</a:t>
            </a:r>
            <a:endParaRPr lang="en-US" sz="30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社交模块开发</a:t>
            </a:r>
            <a:endParaRPr lang="en-US" sz="30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8" name="圆角矩形"/>
          <p:cNvSpPr/>
          <p:nvPr>
            <p:custDataLst>
              <p:tags r:id="rId15"/>
            </p:custDataLst>
          </p:nvPr>
        </p:nvSpPr>
        <p:spPr>
          <a:xfrm>
            <a:off x="3645079" y="3418964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endParaRPr lang="zh-CN" altLang="en-US" sz="3000" b="1" u="none" strike="noStrike" kern="1200" cap="none" spc="0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3" name="TextBox 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59830" y="3480435"/>
            <a:ext cx="17379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DK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"/>
          <p:cNvSpPr/>
          <p:nvPr>
            <p:custDataLst>
              <p:tags r:id="rId17"/>
            </p:custDataLst>
          </p:nvPr>
        </p:nvSpPr>
        <p:spPr>
          <a:xfrm>
            <a:off x="3645079" y="3418964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论坛互动</a:t>
            </a:r>
            <a:endParaRPr lang="en-US" sz="30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7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"/>
                            </p:stCondLst>
                            <p:childTnLst>
                              <p:par>
                                <p:cTn id="5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750"/>
                            </p:stCondLst>
                            <p:childTnLst>
                              <p:par>
                                <p:cTn id="6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5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utoUpdateAnimBg="0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8" grpId="0"/>
      <p:bldP spid="18" grpId="0" bldLvl="0" animBg="1"/>
      <p:bldP spid="3" grpId="0" bldLvl="0" autoUpdateAnimBg="0"/>
      <p:bldP spid="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590" y="2103120"/>
            <a:ext cx="65811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开发护栏，如何严格遵循Harness护栏约束并保障代码质量？</a:t>
            </a:r>
            <a:endParaRPr lang="en-US" sz="28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47875" y="102235"/>
            <a:ext cx="53670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规则空白——代码模式存在，但没人记录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3840480" cy="32004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✅ 已有的规则文件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coding-conventions.md — YAGNI/DRY/TDD 原则</a:t>
            </a:r>
            <a:endParaRPr sz="11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spec-driven-workflow.md — 工作流程</a:t>
            </a:r>
            <a:endParaRPr sz="11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AGENTS.md — 技术栈、禁止动作</a:t>
            </a:r>
            <a:endParaRPr sz="11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0" y="777240"/>
            <a:ext cx="3931920" cy="320040"/>
          </a:xfrm>
          <a:prstGeom prst="roundRect">
            <a:avLst/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804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❌ 缺失的中间层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“后端代码怎么分层？” — 没写</a:t>
            </a:r>
            <a:endParaRPr sz="11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“前端组件怎么组织？” — 没写</a:t>
            </a:r>
            <a:endParaRPr sz="11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“异常怎么处理？” — 没写</a:t>
            </a:r>
            <a:endParaRPr sz="11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“样式怎么写？” — 没写</a:t>
            </a:r>
            <a:endParaRPr sz="11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2D2D2D"/>
                </a:solidFill>
                <a:latin typeface="微软雅黑"/>
              </a:rPr>
              <a:t>• </a:t>
            </a:r>
            <a:r>
              <a:rPr sz="1100" b="0">
                <a:solidFill>
                  <a:srgbClr val="2D2D2D"/>
                </a:solidFill>
                <a:latin typeface="微软雅黑"/>
              </a:rPr>
              <a:t>“响应格式是什么？” — 没写</a:t>
            </a:r>
            <a:endParaRPr sz="11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73152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类比：公司章程写得清清楚楚，但部门手册是空白的——老员工知道，新人不知道，人知道，AI不知道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49375" y="137160"/>
            <a:ext cx="66916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代码里的隐含模式——经过实战验证，但没写进规则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1371600" cy="438912"/>
          </a:xfrm>
          <a:prstGeom prst="roundRect">
            <a:avLst/>
          </a:prstGeom>
          <a:solidFill>
            <a:srgbClr val="C9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777240"/>
            <a:ext cx="3657600" cy="438912"/>
          </a:xfrm>
          <a:prstGeom prst="roundRect">
            <a:avLst/>
          </a:prstGeom>
          <a:solidFill>
            <a:srgbClr val="C9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822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777240"/>
            <a:ext cx="3200400" cy="438912"/>
          </a:xfrm>
          <a:prstGeom prst="roundRect">
            <a:avLst/>
          </a:prstGeom>
          <a:solidFill>
            <a:srgbClr val="C9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822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出处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16152"/>
            <a:ext cx="1371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后端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216152"/>
            <a:ext cx="3657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BaseResponse + request_id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216152"/>
            <a:ext cx="32004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261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dto/response/BaseResponse.java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55064"/>
            <a:ext cx="1371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007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后端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655064"/>
            <a:ext cx="3657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17007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AuthException → GlobalExceptionHandler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655064"/>
            <a:ext cx="3200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7007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exception/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093976"/>
            <a:ext cx="1371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396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后端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2093976"/>
            <a:ext cx="3657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21396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Service层用record定义结果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2093976"/>
            <a:ext cx="32004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1396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AuthService.java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532888"/>
            <a:ext cx="1371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78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80B9"/>
                </a:solidFill>
                <a:latin typeface="微软雅黑"/>
              </a:defRPr>
            </a:pPr>
            <a:r>
              <a:t>前端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2532888"/>
            <a:ext cx="3657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2578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Region-Slot + .data.ts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2532888"/>
            <a:ext cx="3200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app/regions/HeroSlot.tsx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971800"/>
            <a:ext cx="1371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80B9"/>
                </a:solidFill>
                <a:latin typeface="微软雅黑"/>
              </a:defRPr>
            </a:pPr>
            <a:r>
              <a:t>前端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2971800"/>
            <a:ext cx="3657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2024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ApiResponse&lt;T&gt; + parseResponse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2971800"/>
            <a:ext cx="32004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3017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lib/api/auth.ts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410712"/>
            <a:ext cx="1371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4564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80B9"/>
                </a:solidFill>
                <a:latin typeface="微软雅黑"/>
              </a:defRPr>
            </a:pPr>
            <a:r>
              <a:t>前端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28800" y="3410712"/>
            <a:ext cx="3657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3456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Zustand全局状态管理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3410712"/>
            <a:ext cx="32004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lib/stores/auth.ts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49624"/>
            <a:ext cx="1371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8953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微软雅黑"/>
              </a:defRPr>
            </a:pPr>
            <a:r>
              <a:t>数据库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28800" y="3849624"/>
            <a:ext cx="3657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0" y="38953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UUID主键 + @PrePersist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0" y="3849624"/>
            <a:ext cx="32004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8953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UserEntity.java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459605"/>
            <a:ext cx="8229600" cy="502920"/>
          </a:xfrm>
          <a:prstGeom prst="roundRect">
            <a:avLst/>
          </a:prstGeom>
          <a:solidFill>
            <a:srgbClr val="FFF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47789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解决方案：把代码里已经形成的模式，显式化地抽成规则文件 —— 不是设计新规范，是记录已有规范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1470" y="118745"/>
            <a:ext cx="612457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为什么拆成5个文件？——按需加载，职责单一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685800"/>
            <a:ext cx="8229600" cy="457200"/>
          </a:xfrm>
          <a:prstGeom prst="roundRect">
            <a:avLst/>
          </a:prstGeom>
          <a:solidFill>
            <a:srgbClr val="FFF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全塞一个文件？写前端时后端规范是噪音，写数据库时样式规范是噪音 —— AGENTS.md的问题在规则层重演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Agent类型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加载的规则文件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828800" cy="59436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后端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783080"/>
            <a:ext cx="2011680" cy="59436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backend-conventions.md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2011680" cy="594360"/>
          </a:xfrm>
          <a:prstGeom prst="roundRect">
            <a:avLst/>
          </a:prstGeom>
          <a:solidFill>
            <a:srgbClr val="F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微软雅黑"/>
              </a:defRPr>
            </a:pPr>
            <a:r>
              <a:t>database-conventions.md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783080"/>
            <a:ext cx="2011680" cy="594360"/>
          </a:xfrm>
          <a:prstGeom prst="roundRect">
            <a:avLst/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9394A"/>
                </a:solidFill>
                <a:latin typeface="微软雅黑"/>
              </a:defRPr>
            </a:pPr>
            <a:r>
              <a:t>api-conventions.md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1828800" cy="59436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微软雅黑"/>
              </a:defRPr>
            </a:pPr>
            <a:r>
              <a:t>前端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560320"/>
            <a:ext cx="2011680" cy="59436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679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80B9"/>
                </a:solidFill>
                <a:latin typeface="微软雅黑"/>
              </a:defRPr>
            </a:pPr>
            <a:r>
              <a:t>frontend-conventions.md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560320"/>
            <a:ext cx="2011680" cy="59436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679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styling-conventions.md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560320"/>
            <a:ext cx="2011680" cy="594360"/>
          </a:xfrm>
          <a:prstGeom prst="roundRect">
            <a:avLst/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679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9394A"/>
                </a:solidFill>
                <a:latin typeface="微软雅黑"/>
              </a:defRPr>
            </a:pPr>
            <a:r>
              <a:t>api-conventions.md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8229600" cy="502920"/>
          </a:xfrm>
          <a:prstGeom prst="roundRect">
            <a:avLst/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api-conventions.md 是唯一前后端都要加载的 —— 响应格式、错误码是跨端契约，两边都得遵循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2651760" cy="5943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4164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按需加载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416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每个Agent只读</a:t>
            </a:r>
            <a:br/>
            <a:r>
              <a:t>相关的规则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023360"/>
            <a:ext cx="2651760" cy="5943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404164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职责单一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0416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每个文件50-80行</a:t>
            </a:r>
            <a:br/>
            <a:r>
              <a:t>一次读完抓住重点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023360"/>
            <a:ext cx="2651760" cy="5943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04164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互不影响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0416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改样式不影响API</a:t>
            </a:r>
            <a:br/>
            <a:r>
              <a:t>改数据库不影响前端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4060" y="118745"/>
            <a:ext cx="513651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/opsx:explore —— 带明确目的的探索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8229600" cy="640080"/>
          </a:xfrm>
          <a:prstGeom prst="roundRect">
            <a:avLst/>
          </a:prstGeom>
          <a:solidFill>
            <a:srgbClr val="FFF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微软雅黑"/>
              </a:defRPr>
            </a:pPr>
            <a:r>
              <a:t>光输入 /opsx:explore 不会进入规则拆分方向 —— Prompt里的目的描述决定了AI探索的方向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840480" cy="256032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1645920"/>
            <a:ext cx="365760" cy="3657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规则文件补充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当前只有 2 个规则文件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代码中大量隐含模式未记录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抽取为 5 个独立规则文件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backend/frontend/styling/database/api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3931920" cy="256032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164592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数据模型公共字段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317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UserEntity: UUID + @PrePersist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没有 BaseEntity 抽象类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后续模块需要统一公共字段</a:t>
            </a:r>
            <a:endParaRPr sz="1000" b="0">
              <a:solidFill>
                <a:srgbClr val="666666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66666"/>
                </a:solidFill>
                <a:latin typeface="微软雅黑"/>
              </a:rPr>
              <a:t>• </a:t>
            </a:r>
            <a:r>
              <a:rPr sz="1000" b="0">
                <a:solidFill>
                  <a:srgbClr val="666666"/>
                </a:solidFill>
                <a:latin typeface="微软雅黑"/>
              </a:rPr>
              <a:t>提炼可复用的 BaseEntity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4340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8229600" cy="32004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微软雅黑"/>
              </a:defRPr>
            </a:pPr>
            <a:r>
              <a:t>/opsx:explore  目的：1) 规则文件补充(5个新增)  2) 数据模型公共字段(BaseEntity)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86280" y="137160"/>
            <a:ext cx="517207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/opsx:apply —— 5个规则文件概览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8229600" cy="68580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backend-conventions.md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后端分层、DTO、异常、响应格式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8229600" cy="68580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frontend-conventions.md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目录结构、组件分类、状态管理、BFF边界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8229600" cy="685800"/>
          </a:xfrm>
          <a:prstGeom prst="roundRect">
            <a:avLst/>
          </a:prstGeom>
          <a:solidFill>
            <a:srgbClr val="FFF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styling-conventions.md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Tailwind、shadcn/ui、视觉设计原则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63240"/>
            <a:ext cx="8229600" cy="685800"/>
          </a:xfrm>
          <a:prstGeom prst="roundRect">
            <a:avLst/>
          </a:prstGeom>
          <a:solidFill>
            <a:srgbClr val="F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363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database-conventions.md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10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BaseEntity、公共字段、命名、软删除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8229600" cy="685800"/>
          </a:xfrm>
          <a:prstGeom prst="roundRect">
            <a:avLst/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13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api-conventions.md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87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响应格式、错误码体系、分页、安全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868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Controller/Service/Repository | BaseResponse+ErrorResponse | 构造器注入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regions/+(module)/ 目录 | Server/Client Component | 薄BFF边界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423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沉浸感/呼吸感/层次感/探索感 | mobile-first | 克制动效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UUID主键 + Instant时间戳 | 5个公共字段 | snake_case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request_id全局跟踪 | 模块分段错误码 | page+size分页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styling-conventions.md —— 不只是技术约束，还有视觉理念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685800"/>
            <a:ext cx="8229600" cy="41148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WanderChina = 面向境外用户的中国旅游探索平台，对标 Visit Japan / Tourism New Zealand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920240" cy="155448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沉浸式优先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大面积图片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渐变遮罩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文字叠加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606040" y="1280160"/>
            <a:ext cx="1920240" cy="155448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呼吸感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充足留白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避免堆砌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视觉节奏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1920240" cy="1554480"/>
          </a:xfrm>
          <a:prstGeom prst="roundRect">
            <a:avLst/>
          </a:prstGeom>
          <a:solidFill>
            <a:srgbClr val="F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微软雅黑"/>
              </a:defRPr>
            </a:pPr>
            <a:r>
              <a:t>层次感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阴影深度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透明度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字号对比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03720" y="1280160"/>
            <a:ext cx="1920240" cy="1554480"/>
          </a:xfrm>
          <a:prstGeom prst="roundRect">
            <a:avLst/>
          </a:prstGeom>
          <a:solidFill>
            <a:srgbClr val="FFF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探索感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hover微上浮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图片微放大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颜色过渡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3931920" cy="14630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技术约束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83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Tailwind CSS + shadcn/ui + lucide-react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mobile-first，禁止内联 style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禁止引入其他 CSS 框架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暗色模式：darkMode: class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54880" y="3017520"/>
            <a:ext cx="3931920" cy="14630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色彩与排版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383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主色调蓝色系（信任+旅行）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辅助暖色 CTA（发现+热情）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标题 Plus Jakarta Sans / 正文 Inter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动效克制：每个动效都要有理由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82800" y="137160"/>
            <a:ext cx="497776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BaseEntity —— 业务模块的公共基类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1645920" cy="438912"/>
          </a:xfrm>
          <a:prstGeom prst="roundRect">
            <a:avLst/>
          </a:prstGeom>
          <a:solidFill>
            <a:srgbClr val="C9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字段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777240"/>
            <a:ext cx="1371600" cy="438912"/>
          </a:xfrm>
          <a:prstGeom prst="roundRect">
            <a:avLst/>
          </a:prstGeom>
          <a:solidFill>
            <a:srgbClr val="C9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822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类型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777240"/>
            <a:ext cx="1645920" cy="438912"/>
          </a:xfrm>
          <a:prstGeom prst="roundRect">
            <a:avLst/>
          </a:prstGeom>
          <a:solidFill>
            <a:srgbClr val="C9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822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数据库列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777240"/>
            <a:ext cx="3566160" cy="438912"/>
          </a:xfrm>
          <a:prstGeom prst="roundRect">
            <a:avLst/>
          </a:prstGeom>
          <a:solidFill>
            <a:srgbClr val="C9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822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16152"/>
            <a:ext cx="164592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61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216152"/>
            <a:ext cx="1371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2618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980B9"/>
                </a:solidFill>
                <a:latin typeface="微软雅黑"/>
              </a:defRPr>
            </a:pPr>
            <a:r>
              <a:t>UUID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216152"/>
            <a:ext cx="164592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261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216152"/>
            <a:ext cx="356616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261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主键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655064"/>
            <a:ext cx="164592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7007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createdAt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1655064"/>
            <a:ext cx="1371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17007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980B9"/>
                </a:solidFill>
                <a:latin typeface="微软雅黑"/>
              </a:defRPr>
            </a:pPr>
            <a:r>
              <a:t>Instant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1655064"/>
            <a:ext cx="164592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17007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created_at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1655064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17007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创建时间（不可修改）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093976"/>
            <a:ext cx="164592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1396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updatedAt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2093976"/>
            <a:ext cx="1371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396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980B9"/>
                </a:solidFill>
                <a:latin typeface="微软雅黑"/>
              </a:defRPr>
            </a:pPr>
            <a:r>
              <a:t>Instant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2093976"/>
            <a:ext cx="164592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1396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updated_at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2093976"/>
            <a:ext cx="356616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21396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更新时间（自动更新）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532888"/>
            <a:ext cx="164592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createdBy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0" y="2532888"/>
            <a:ext cx="137160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2578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980B9"/>
                </a:solidFill>
                <a:latin typeface="微软雅黑"/>
              </a:defRPr>
            </a:pPr>
            <a:r>
              <a:t>UUID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2532888"/>
            <a:ext cx="164592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created_by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2532888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2578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创建人 ID（可选）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971800"/>
            <a:ext cx="164592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deleted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03120" y="2971800"/>
            <a:ext cx="137160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9456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980B9"/>
                </a:solidFill>
                <a:latin typeface="微软雅黑"/>
              </a:defRPr>
            </a:pPr>
            <a:r>
              <a:t>Boolean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74720" y="2971800"/>
            <a:ext cx="164592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is_deleted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20640" y="2971800"/>
            <a:ext cx="3566160" cy="43891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软删除标记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090" y="3597910"/>
            <a:ext cx="3840480" cy="137160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250" y="364363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生命周期管理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250" y="396367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@PrePersist → 设置 createdAt + updatedAt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@PreUpdate → 更新 updatedAt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不用 @CreatedDate（项目未启用 Auditing）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754880" y="3597910"/>
            <a:ext cx="3931920" cy="137160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92040" y="364363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/>
              </a:defRPr>
            </a:pPr>
            <a:r>
              <a:t>继承策略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0930" y="396367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新业务 Entity → extends BaseEntity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UserEntity → 暂不改造（有 State 枚举）</a:t>
            </a:r>
            <a:endParaRPr sz="10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2D2D2D"/>
                </a:solidFill>
                <a:latin typeface="微软雅黑"/>
              </a:rPr>
              <a:t>• </a:t>
            </a:r>
            <a:r>
              <a:rPr sz="1000" b="0">
                <a:solidFill>
                  <a:srgbClr val="2D2D2D"/>
                </a:solidFill>
                <a:latin typeface="微软雅黑"/>
              </a:rPr>
              <a:t>@MappedSuperclass 抽象类</a:t>
            </a:r>
            <a:endParaRPr sz="10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68345" y="164465"/>
            <a:ext cx="214947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三层规则体系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229600" cy="105156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005840"/>
            <a:ext cx="502920" cy="5029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微软雅黑"/>
              </a:defRPr>
            </a:pPr>
            <a:r>
              <a:t>AGENTS.md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914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“用什么”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技术栈、仓库拓扑、禁止动作、硬规则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05840"/>
            <a:ext cx="1645920" cy="45720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051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公司章程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8229600" cy="105156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/>
              </a:defRPr>
            </a:pPr>
            <a:r>
              <a:t>rules/ 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“怎么写”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7个规则文件：编码原则 + 工作流 + 后端/前端/样式/数据库/API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240280"/>
            <a:ext cx="1645920" cy="4572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部门手册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46120"/>
            <a:ext cx="8229600" cy="1051560"/>
          </a:xfrm>
          <a:prstGeom prst="roundRect">
            <a:avLst/>
          </a:prstGeom>
          <a:solidFill>
            <a:srgbClr val="FFF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微软雅黑"/>
              </a:defRPr>
            </a:pPr>
            <a:r>
              <a:t>Spec 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“做什么”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openspec/specs/ 下的 capability spec，WHEN/THEN 验收标准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474720"/>
            <a:ext cx="164592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项目合同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92145" y="146050"/>
            <a:ext cx="294259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微软雅黑"/>
              </a:defRPr>
            </a:pPr>
            <a:r>
              <a:rPr>
                <a:solidFill>
                  <a:srgbClr val="C00000"/>
                </a:solidFill>
                <a:uFillTx/>
              </a:rPr>
              <a:t>规则文件的生命周期</a:t>
            </a:r>
            <a:endParaRPr>
              <a:solidFill>
                <a:srgbClr val="C00000"/>
              </a:solidFill>
              <a:uFillTx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2286000"/>
          </a:xfrm>
          <a:prstGeom prst="roundRect">
            <a:avLst/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777240"/>
            <a:ext cx="502920" cy="5029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80B9"/>
                </a:solidFill>
                <a:latin typeface="微软雅黑"/>
              </a:defRPr>
            </a:pPr>
            <a:r>
              <a:t>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微软雅黑"/>
              </a:rPr>
              <a:t>• </a:t>
            </a:r>
            <a:r>
              <a:rPr sz="1200" b="0">
                <a:solidFill>
                  <a:srgbClr val="2D2D2D"/>
                </a:solidFill>
                <a:latin typeface="微软雅黑"/>
              </a:rPr>
              <a:t>从代码中抽取模式</a:t>
            </a:r>
            <a:endParaRPr sz="12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微软雅黑"/>
              </a:rPr>
              <a:t>• </a:t>
            </a:r>
            <a:r>
              <a:rPr sz="1200" b="0">
                <a:solidFill>
                  <a:srgbClr val="2D2D2D"/>
                </a:solidFill>
                <a:latin typeface="微软雅黑"/>
              </a:rPr>
              <a:t>形成规则文件</a:t>
            </a:r>
            <a:endParaRPr sz="12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← 本节做的事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097280"/>
            <a:ext cx="2560320" cy="2286000"/>
          </a:xfrm>
          <a:prstGeom prst="roundRect">
            <a:avLst/>
          </a:prstGeom>
          <a:solidFill>
            <a:srgbClr val="E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7772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微软雅黑"/>
              </a:defRPr>
            </a:pPr>
            <a:r>
              <a:t>Follow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微软雅黑"/>
              </a:rPr>
              <a:t>• </a:t>
            </a:r>
            <a:r>
              <a:rPr sz="1200" b="0">
                <a:solidFill>
                  <a:srgbClr val="2D2D2D"/>
                </a:solidFill>
                <a:latin typeface="微软雅黑"/>
              </a:rPr>
              <a:t>Agent自动加载</a:t>
            </a:r>
            <a:endParaRPr sz="12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微软雅黑"/>
              </a:rPr>
              <a:t>• </a:t>
            </a:r>
            <a:r>
              <a:rPr sz="1200" b="0">
                <a:solidFill>
                  <a:srgbClr val="2D2D2D"/>
                </a:solidFill>
                <a:latin typeface="微软雅黑"/>
              </a:rPr>
              <a:t>自动遵循</a:t>
            </a:r>
            <a:endParaRPr sz="12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护栏在起作用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97280"/>
            <a:ext cx="2560320" cy="2286000"/>
          </a:xfrm>
          <a:prstGeom prst="roundRect">
            <a:avLst/>
          </a:prstGeom>
          <a:solidFill>
            <a:srgbClr val="FFF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77724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7E22"/>
                </a:solidFill>
                <a:latin typeface="微软雅黑"/>
              </a:defRPr>
            </a:pPr>
            <a:r>
              <a:t>Evolve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微软雅黑"/>
              </a:rPr>
              <a:t>• </a:t>
            </a:r>
            <a:r>
              <a:rPr sz="1200" b="0">
                <a:solidFill>
                  <a:srgbClr val="2D2D2D"/>
                </a:solidFill>
                <a:latin typeface="微软雅黑"/>
              </a:rPr>
              <a:t>每做一个模块</a:t>
            </a:r>
            <a:endParaRPr sz="1200" b="0">
              <a:solidFill>
                <a:srgbClr val="2D2D2D"/>
              </a:solidFill>
              <a:latin typeface="微软雅黑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微软雅黑"/>
              </a:rPr>
              <a:t>• </a:t>
            </a:r>
            <a:r>
              <a:rPr sz="1200" b="0">
                <a:solidFill>
                  <a:srgbClr val="2D2D2D"/>
                </a:solidFill>
                <a:latin typeface="微软雅黑"/>
              </a:rPr>
              <a:t>验证并更新</a:t>
            </a:r>
            <a:endParaRPr sz="120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规则跟项目一起成长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8229600" cy="68580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9476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规则文件不是写完就扔的文档，而是项目的“活记忆”——代码会变，规则也会变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590" y="2103120"/>
            <a:ext cx="65811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内容创作功能开发：实现帖子发布、帖子详情、富文本编辑器</a:t>
            </a:r>
            <a:endParaRPr lang="en-US" sz="28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帖子 = WanderChina的核心内容单元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旅行攻略、小众景点、城市导览——底层都是"一篇帖子"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5603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56032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帖子发布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Markdown富文本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标题 + 正文 + 封面图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标签分类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草稿 / 已发布状态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5603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56032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89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帖子详情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Markdown渲染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封面图 + 标签展示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公开访问（无需登录）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按需加载完整内容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25603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56032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89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富文本编辑器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69164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Markdown语法 + 工具栏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实时预览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AI自动选型组件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对作者友好、对AI友好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通用模式：数据模型 → CRUD接口 → 前端页面 → 编辑器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学会这一个模块，后面做城市、景点、行程——套路全一样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三步走：每步都用 /opsx 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1463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Part 1: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定义"做什么"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DD"/>
                </a:solidFill>
                <a:latin typeface="微软雅黑"/>
              </a:defRPr>
            </a:pPr>
            <a:r>
              <a:t>explore → propose → apply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560320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Part 2: 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实现CRUD接口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DD"/>
                </a:solidFill>
                <a:latin typeface="微软雅黑"/>
              </a:defRPr>
            </a:pPr>
            <a:r>
              <a:t>explore → propose → apply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256032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Part 3: 前端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页面 + 编辑器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DD"/>
                </a:solidFill>
                <a:latin typeface="微软雅黑"/>
              </a:defRPr>
            </a:pPr>
            <a:r>
              <a:t>explore → propose → apply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63240" y="1600200"/>
            <a:ext cx="27432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989320" y="1600200"/>
            <a:ext cx="27432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每步的 explore prompt 是核心 —— 目的描述决定 AI 输出质量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666666"/>
                </a:solidFill>
                <a:latin typeface="微软雅黑"/>
              </a:defRPr>
            </a:pPr>
            <a:r>
              <a:t>explore（带明确目的）→ propose（确认四件套）→ apply（生成代码/Spec）</a:t>
            </a:r>
          </a:p>
          <a:p>
            <a:pPr>
              <a:spcAft>
                <a:spcPts val="330"/>
              </a:spcAft>
              <a:defRPr sz="1100">
                <a:solidFill>
                  <a:srgbClr val="666666"/>
                </a:solidFill>
                <a:latin typeface="微软雅黑"/>
              </a:defRPr>
            </a:pPr>
            <a:r>
              <a:t>三件事 × 三轮 = 一个完整的业务模块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写业务Spec —— 先画图纸再施工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412480" cy="2194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8046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目的：为帖子(posts)模块设计 capability spec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参考 project.md 中"旅行攻略/Story"的定义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以及 auth-backend-api 的 spec 结构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帖子数据模型：Markdown 富文本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字段：title / content(Markdown) / coverImage / tags / status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接口需要 JWT 认证（写操作），读操作公开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参考 auth spec 的 WHEN/THEN 格式定义验收标准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Prompt 四个要点：参考谁 + 长什么样 + 安全约束 + 格式要求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为什么用 Markdown 而非 HTML？—— 纯文本对 AI 写、改、校验都更友好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Spec 产出：WHEN/THEN 验收标准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931920" cy="25603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Requirement: 创建帖子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WHEN 已登录用户 POST /api/posts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THEN → 201 + 帖子详情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WHEN 未登录用户 POST /api/posts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THEN → 401 Unauthorized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WHEN 标题为空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THEN → 422 validation_error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43000"/>
            <a:ext cx="4206240" cy="25603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Requirement: 查询帖子列表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WHEN GET /api/posts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THEN → 分页帖子摘要（无正文）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Requirement: 查询帖子详情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WHEN GET /api/posts/{id}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THEN → 完整 Markdown 内容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WHEN 帖子不存在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THEN → 404 not_found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Spec 不写"怎么实现"，只写"应该怎样" —— 实现交给 apply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后端CRUD —— 从 Spec 到代码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41248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目的：根据 posts spec 实现后端 CRUD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PostEntity 继承 BaseEntity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业务字段：authorId / title / content(Markdown) /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coverImage / tags(JSON) / status(draft|published)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严格遵循三层架构 + DTO 分离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Response 继承 BaseResponse，禁止返回 Entity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写操作（POST/PUT/DELETE）需要 JWT 认证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参考 AuthController 的 Bearer token 提取模式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读操作（GET 列表 / GET 详情）公开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遵循 backend-conventions + database-conventions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关键设计："参考 AuthController" → AI 按已有模式走，不发明轮子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tags 用 JSON 存储而非关联表 → YAGNI 原则，不做没要求的事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后端生成文件一览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层级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70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170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职责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PostEntity.java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继承 BaseEntity，6 个业务字段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92807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385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9385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PostRepository.java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9385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findByStatus / findByAuthorId / 分页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76856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22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322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PostService.java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322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create / update / get /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60904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06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706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PostController.java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706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6 个端点，写操作 JWT 校验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44952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090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DTO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090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CreatePostRequest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090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record + @Valid 校验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DTO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PostResponse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继承 BaseResponse，带 request_id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657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✓ PostEntity extends BaseEntity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31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✓ Service 返回 record (PostSummary/PostDetail)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✓ 列表返回 Summary（不含正文）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✓ 写操作 JWT 校验，读操作公开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curl 快速验证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# 创建帖子（带 JWT）→ 201 + PostResponse（带 request_id）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curl -X POST localhost:8080/api/posts \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-H 'Authorization: Bearer &lt;token&gt;' \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-d '{"title":"Chengdu Food","content":"## Day 1","tags":["food"]}'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# 不传 token → 401 Unauthorized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curl -X POST localhost:8080/api/posts -d '{"title":"test"}'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8412480" cy="5486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# 查询列表（公开）→ 200 + PostSummary 列表（无 content 字段）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curl localhost:8080/api/posts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三个验证点：✓ BaseResponse(request_id)  ✓ JWT校验  ✓ 按需返回(列表无正文)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前端页面 + 编辑器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412480" cy="20116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目的：根据 posts spec 实现前端页面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页面路由（参考 (auth) 路由分组模式）：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app/(posts)/page.tsx          → 帖子列表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app/(posts)/create/page.tsx   → 发布（需登录）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app/(posts)/[id]/page.tsx     → 详情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选用合适的 React Markdown 编辑器（带工具栏）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支持标题、Markdown 正文、封面图 URL、标签输入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API 封装参考 lib/api/auth.ts 的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ApiResponse&lt;T&gt; + parseResponse 模式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遵循 frontend-conventions + styling-conventions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两个决策：(auth) 路由分组 + Markdown 编辑器让 AI 在技术栈边界内自动选型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三个页面的设计要点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265176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65176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列表页 (Server Component)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fetchFromBackend('/api/posts')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卡片网格：封面图+标题+标签+时间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呼吸感：充足间距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探索感：hover 卡片微上浮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无 Markdown 正文（按需加载）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143000"/>
            <a:ext cx="265176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43000"/>
            <a:ext cx="265176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527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发布页 (Client Component)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5544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'use client' — 处理表单交互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标题输入框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Markdown 编辑器（工具栏）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封面图 URL + 标签输入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发布时携带 JWT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143000"/>
            <a:ext cx="265176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143000"/>
            <a:ext cx="265176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527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详情页 (混合模式)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Server Component 预取数据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Client Component 渲染 Markdown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react-markdown 转 HTML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封面图 + 标签展示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完整内容（按需加载 Detail）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749039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Server/Client Component 分类 + fetchFromBackend 薄 BFF → frontend-conventions 自动生效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Markdown 编辑器 —— 为什么选 Markdown？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2296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95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Part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931920" cy="2103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工具栏:  B  I  H2  List  Link 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645920" cy="15544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CC88"/>
                </a:solidFill>
                <a:latin typeface="微软雅黑"/>
              </a:defRPr>
            </a:pPr>
            <a:r>
              <a:t>## Day 1</a:t>
            </a:r>
            <a:br/>
            <a:r>
              <a:t>**美食推荐**</a:t>
            </a:r>
            <a:br/>
            <a:r>
              <a:t>- 火锅</a:t>
            </a:r>
            <a:br/>
            <a:r>
              <a:t>- 串串</a:t>
            </a:r>
            <a:br/>
            <a:r>
              <a:t>&gt; 必去春熙路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554480"/>
            <a:ext cx="16459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600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74519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美食推荐</a:t>
            </a:r>
            <a:br/>
            <a:r>
              <a:t>• 火锅</a:t>
            </a:r>
            <a:br/>
            <a:r>
              <a:t>• 串串</a:t>
            </a:r>
            <a:br/>
            <a:r>
              <a:t>必去春熙路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143000"/>
            <a:ext cx="36576" cy="64008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对作者友好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不用记语法，点工具栏就行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920240"/>
            <a:ext cx="36576" cy="64008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对 AI 友好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纯文本，编辑/diff/校验都简单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697480"/>
            <a:ext cx="36576" cy="64008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对渲染友好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一行代码转 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Markdown = 作者和渲染器之间的最佳协议，正如 JSON 是前后端之间的协议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规则生效验证 —— 5 个全 ✓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96112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896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database-conventions.md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52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微软雅黑"/>
              </a:defRPr>
            </a:pPr>
            <a:r>
              <a:t>PostEntity extends BaseEntity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9875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id / createdAt / updatedAt / deleted 自动维护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743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490472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490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backend-conventions.md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465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微软雅黑"/>
              </a:defRPr>
            </a:pPr>
            <a:r>
              <a:t>Controller 无业务逻辑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819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参数校验 → 调 Service → 返回 ResponseEntity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084832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84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api-conventions.md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340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微软雅黑"/>
              </a:defRPr>
            </a:pPr>
            <a:r>
              <a:t>PostResponse extends BaseResponse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762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自动带 request_id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97480"/>
            <a:ext cx="2743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679192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679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frontend-conventions.md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352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微软雅黑"/>
              </a:defRPr>
            </a:pPr>
            <a:r>
              <a:t>(posts) 路由分组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706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Server/Client Component 分类正确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273552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273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styling-conventions.md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9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微软雅黑"/>
              </a:defRPr>
            </a:pPr>
            <a:r>
              <a:t>卡片留白 + hover 微上浮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3649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视觉原则自动应用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规则文件写一次 → 每个模块自动生效 → 不用每次 Prompt 提醒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一句话总结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377440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定义"做什么"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097280"/>
            <a:ext cx="2377440" cy="1280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规则文件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定义"怎么做"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97280"/>
            <a:ext cx="237744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AI 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负责"做出来"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微软雅黑"/>
              </a:defRPr>
            </a:pPr>
            <a:r>
              <a:t>三层各管各的，互不干扰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下一节：在帖子模块基础上继续扩展 —— 评论、搜索、更多交互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590" y="2103120"/>
            <a:ext cx="65811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数据库持久化：如何从H2内存库平滑切换到MySQL？</a:t>
            </a:r>
            <a:endParaRPr lang="en-US" sz="28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H2 数据库：轻量好用，但数据不持久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H2 是什么？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07592"/>
            <a:ext cx="54864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Java 编写的轻量级数据库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54864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一个 jar 包，零安装零配置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1"/>
            <a:ext cx="54864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内存模式：数据存 JVM，读写极快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67712"/>
            <a:ext cx="54864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Spring Boot 默认数据库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87752"/>
            <a:ext cx="54864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适合快速原型 + 单元测试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痛点：重启即清空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234440"/>
            <a:ext cx="3931920" cy="14630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3716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url: jdbc:h2:mem:wanderchina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ddl-auto: create-drop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启动 → 注册 → 创建帖子 ✓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重启应用...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再登录 → 401 ✗ 数据全没了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834640"/>
            <a:ext cx="36576" cy="3200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8163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① mem 内存库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163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进程停 → 内存释放 → 数据消失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291840"/>
            <a:ext cx="36576" cy="3200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3273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② create-drop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273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每次启动 → 删表重建 → 数据清零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白板模式：写得快，擦得也快 → 目标：切换到 MySQL，数据写入磁盘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让 AI 帮你改配置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8412480" cy="2637155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8046720" cy="252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目的：将数据库从 H2 内存库切换到本地 MySQL 8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pom.xml：添加 mysql-connector-j 依赖，移除 h2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application.yml：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- datasource.url  → jdbc:mysql://localhost:3306/wanderchina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- driver          → com.mysql.cj.jdbc.Driver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- ddl-auto        → update（保留数据，只同步结构变更）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- 移除 h2.console 配置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MySQL 准备：创建 wanderchina 数据库，字符集 utf8mb4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遵循 database-conventions（UUID主键、snake_case表名）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80155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配置驱动的变更 → Prompt 直接列出具体配置项，AI 精准执行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45915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核心决策：ddl-auto → update（开发阶段自动同步表结构，保留已有数据）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改了什么：两个文件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pom.xml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840480" cy="5486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394A"/>
                </a:solidFill>
                <a:latin typeface="微软雅黑"/>
              </a:defRPr>
            </a:pPr>
            <a:r>
              <a:t>- com.h2database:h2 (scope=runtime)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微软雅黑"/>
              </a:defRPr>
            </a:pPr>
            <a:r>
              <a:t>+ com.mysql:mysql-connector-j (scope=runtime)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scope=runtime → 编译不需要，运行才加载</a:t>
            </a:r>
            <a:br/>
            <a:r>
              <a:t>代码不改一行，JPA屏蔽数据库差异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application.yml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070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配置项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070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H2 (改前)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2070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MySQL (改后)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508760"/>
            <a:ext cx="3931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5361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5361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jdbc:h2:mem:...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5361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jdbc:mysql://...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810512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83794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83794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org.h2.Driver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83794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com.mysql.cj.jdbc.Driver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112264"/>
            <a:ext cx="3931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1396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username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396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1396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root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414015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441447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password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441447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(空)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441447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your_password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715768"/>
            <a:ext cx="3931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ddl-auto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9394A"/>
                </a:solidFill>
                <a:latin typeface="微软雅黑"/>
              </a:defRPr>
            </a:pPr>
            <a:r>
              <a:t>create-drop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7AE60"/>
                </a:solidFill>
                <a:latin typeface="微软雅黑"/>
              </a:defRPr>
            </a:pPr>
            <a:r>
              <a:t>update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44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h2.console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044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enabled: 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044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微软雅黑"/>
              </a:defRPr>
            </a:pPr>
            <a:r>
              <a:t>已删除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JPA 屏蔽了数据库差异 → 换驱动换配置，业务代码零修改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ddl-auto 四种策略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" cy="68580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create-drop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启动删表重建，关闭再删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≈ 白板模式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60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适用：H2 开发原型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4864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微软雅黑"/>
              </a:defRPr>
            </a:pPr>
            <a: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启动删表重建，关闭不删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83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≈ 每次新开始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适用：CI 测试环境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对比差异，ALTER TABLE 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≈ 增量更新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适用：MySQL 本地开发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54864" cy="685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微软雅黑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只校验一致性，不自动改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≈ 只读检查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429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适用：生产 + Flyway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开发用 update → 生产用 validate + Flyway → 每步变更有版本记录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MySQL 建库：utf8mb4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CREATE DATABASE wanderchina</a:t>
            </a:r>
          </a:p>
          <a:p>
            <a:pPr>
              <a:spcAft>
                <a:spcPts val="2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CHARACTER SET utf8mb4</a:t>
            </a:r>
          </a:p>
          <a:p>
            <a:pPr>
              <a:spcAft>
                <a:spcPts val="200"/>
              </a:spcAft>
              <a:defRPr sz="1200">
                <a:solidFill>
                  <a:srgbClr val="CCCCCC"/>
                </a:solidFill>
                <a:latin typeface="Consolas"/>
              </a:defRPr>
            </a:pPr>
            <a:r>
              <a:t>  COLLATE utf8mb4_unicode_ci;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为什么不用 utf8？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384048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84048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MySQL 的 utf8（阉割版）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最多 3 字节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不支持 emoji: 😀 ❌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不支持部分生僻字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存 emoji → 报错！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468880"/>
            <a:ext cx="39319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468880"/>
            <a:ext cx="3931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78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utf8mb4（完整 Unicode）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803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最多 4 字节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支持所有 emoji: 😀 ✓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支持所有 Unicode 字符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帖子标题有 emoji → 正常存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MySQL 项目一律用 utf8mb4，不要用 utf8 —— 这是一个经典坑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验证：重启后数据还在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① 启动应用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93268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微软雅黑"/>
              </a:defRPr>
            </a:pPr>
            <a:r>
              <a:t>Hibernate 自动 CREATE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② 注册 + 创建帖子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8132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微软雅黑"/>
              </a:defRPr>
            </a:pPr>
            <a:r>
              <a:t>curl POST → 201 Created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4864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③ 重启应用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2996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7E22"/>
                </a:solidFill>
                <a:latin typeface="微软雅黑"/>
              </a:defRPr>
            </a:pPr>
            <a:r>
              <a:t>Ctrl+C → 再启动...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54864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786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④ 再登录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786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微软雅黑"/>
              </a:defRPr>
            </a:pPr>
            <a:r>
              <a:t>curl POST → 200 OK（不再 401！）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4864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27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⑤ 查 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2724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微软雅黑"/>
              </a:defRPr>
            </a:pPr>
            <a:r>
              <a:t>SELECT count(*) FROM users; →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914400"/>
            <a:ext cx="3657600" cy="10972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051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mysql&gt; SELECT id, title, status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       FROM posts;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+------+-----------+----------+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| id   | title     | status   |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+------+-----------+----------+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| abc  | Chengdu.. | published|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+------+-----------+----------+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H2：重启 → 401 ✗     MySQL + update：重启 → 200 OK ✓  数据完好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总结：三件事 + ddl-auto 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560320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① 换依赖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h2 → mysql-connector-j</a:t>
            </a:r>
            <a:br/>
            <a:r>
              <a:t>scope=runtime，代码零修改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914400"/>
            <a:ext cx="256032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② 改配置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url / driver / ddl-auto</a:t>
            </a:r>
            <a:br/>
            <a:r>
              <a:t>create-drop → 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91440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③ 建库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CREATE DATABASE + utf8mb4</a:t>
            </a:r>
            <a:br/>
            <a:r>
              <a:t>支持 emoji 和完整 Unicode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95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95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ddl-auto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95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理由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82296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340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本地开发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7340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微软雅黑"/>
              </a:defRPr>
            </a:pPr>
            <a:r>
              <a:t>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340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自动同步表结构，保留数据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540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CI 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540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create-drop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0540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每次干净环境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741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生产环境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3741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validate + Flyway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741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变更有版本记录，可回滚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H2+create-drop = 草稿纸     MySQL+update = 笔记本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590" y="2103120"/>
            <a:ext cx="65811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互动交流功能开发：实现评论系统、点赞点踩、个人收藏</a:t>
            </a:r>
            <a:endParaRPr lang="en-US" sz="28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现状：能看不能互动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帖子详情页已具备：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657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✓  标题渲染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✓  Markdown 正文展示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✓  标签 Badge 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✓  日期 / 作者信息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缺失的互动能力：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36576" cy="3657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16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✗  评论系统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读者无法提问、讨论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737360"/>
            <a:ext cx="36576" cy="3657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719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✗  点赞/点踩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无法表达认可或反对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240280"/>
            <a:ext cx="36576" cy="3657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221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✗  个人收藏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23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无法保存感兴趣的帖子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9374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帖子变单行道 → 本节一次补齐三个交互能力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后端：一轮 explore 生成三组 CRUD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8229600" cy="32004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目的：为帖子详情页补充评论、投票、收藏三个后端功能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评论系统 - CommentEntity extends BaseEntity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postId + userId + content(TEXT) + parentCommentId(null=顶层)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查询：顶层评论(分页) / 回复列表 / 发布 / 回复 / 软删除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投票 - VoteEntity extends BaseEntity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postId + userId + voteType(UP/DOWN)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@UniqueConstraint(post_id, user_id) 一人一票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vote(): 不存在→创建 / 相同→取消 / 不同→切换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收藏 - BookmarkEntity extends BaseEntity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postId + userId + @UniqueConstraint 防重复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toggle(): 不存在→收藏 / 已存在→取消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全部需要JWT认证 (参考PostController)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只描述'做什么'，不描述'怎么做' → 规则文件已定义写法 → 描述量省 2/3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三个 Entity 的设计思路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274320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274320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CommentEntity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2468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extends BaseEntity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postId: UUID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userId: UUID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content: TEXT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parentCommentId: UUID (可null)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自引用模式：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null → 顶层评论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指向评论ID → 回复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限制最多2层嵌套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868680"/>
            <a:ext cx="274320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868680"/>
            <a:ext cx="274320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VoteEntity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280160"/>
            <a:ext cx="2468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extends BaseEntity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postId: UUID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userId: UUID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voteType: UP / DOWN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UniqueConstraint: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(post_id, user_id)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→ 一人一票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868680"/>
            <a:ext cx="274320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86868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BookmarkEntity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2468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extends BaseEntity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postId: UUID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userId: UUID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UniqueConstraint: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(post_id, user_id)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→ 防止重复收藏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toggle() 语义：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有 → 取消收藏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三个Entity全部继承BaseEntity → UUID主键 + 时间戳 + 软删除自动生效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Vote 切换逻辑：一个API三种语义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572000" cy="2286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VoteService.vote(postId, userId, voteType)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if (该用户在该帖子下没有投票记录) {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 create → 新投票        // 点赞 or 点踩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} else if (已有投票 == voteType) {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 softDelete → 取消投票  // 再点=取消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} else {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 update voteType        // 切换方向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getVoteStats(postId) → {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 upCount: 12,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 downCount: 2,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 userVote: 'UP' | 'DOWN' | null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868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类比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344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就像微信的'拍一拍'：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拍第一次 → 打招呼 (新建)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再拍同一人 → 撤回 (取消)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拍别人 → 切换对象 (切换)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一个动作，三种语义。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upCount + downCount + userVote → 前端拿到就能渲染完整按钮组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前端：在详情页添加交互组件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8229600" cy="27889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目的：在帖子详情页(posts/[id])添加评论、投票、收藏交互组件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VoteButtons (Client Component)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👍 upCount | 👎 downCount  |  已选项高亮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乐观更新：先改UI再调API，失败回滚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BookmarkButton (Client Component)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lucide-react: Bookmark / BookmarkCheck  |  点击切换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CommentSection (Client Component)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CommentList + CommentItem + CommentInput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最多展开2层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参考 authFetch + ApiResponse&lt;T&gt; 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三个组件全是 Client Component → 需要交互状态，不能是 Server Component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详情页布局：新增操作栏 + 评论区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3931920" cy="34747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帖子详情页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封面图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标题 + 日期 + 作者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910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标签 Badge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922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── 分割线 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Markdown 正文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微软雅黑"/>
              </a:defRPr>
            </a:pPr>
            <a:r>
              <a:t>★ 👍 12   👎 2             🔖 收藏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9806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394A"/>
                </a:solidFill>
                <a:latin typeface="微软雅黑"/>
              </a:defRPr>
            </a:pPr>
            <a:r>
              <a:t>★ 评论 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  [头像] 旅行者A · 2h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  这篇攻略太实用了！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  [头像] 作者 · 1h  (回复)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027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  [输入框...] [发布]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新增两个区域：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234440"/>
            <a:ext cx="393192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234440"/>
            <a:ext cx="39319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344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操作栏（正文下方）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横排：投票按钮左 + 收藏按钮右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flex justify-between 布局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已登录用户显示当前投票状态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423160"/>
            <a:ext cx="393192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2423160"/>
            <a:ext cx="393192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评论区（操作栏下方）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8346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竖排：评论列表 + 底部输入框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每条评论可展开回复（缩进展示）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第2层回复不再显示'回复'按钮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防止无限嵌套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9776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980B9"/>
                </a:solidFill>
                <a:latin typeface="微软雅黑"/>
              </a:defRPr>
            </a:pPr>
            <a:r>
              <a:t>★ = 第4节新增部分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乐观更新：先改UI再调API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微软雅黑"/>
              </a:defRPr>
            </a:pPr>
            <a:r>
              <a:t>传统方式（悲观更新）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840480" cy="12801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点击 → 调API → 等300ms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→ 响应OK → 更新UI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用户体验：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点了一下，没反应...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过了300ms数字才+1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乐观更新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34440"/>
            <a:ext cx="3931920" cy="12801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点击 → 立刻更新UI(+1)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→ 同时调API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→ 成功 → 保持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→ 失败 → 回滚 + toast提示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用户体验：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一点，数字立刻变了！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核心三步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① 保存当前状态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const prevVote = userVote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② 乐观更新UI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204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setUserVote('UP'); setUpCount(c =&gt; c + 1)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4864" cy="3200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③ 调API + 回滚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if (!res.ok) { setUserVote(prevVote); showToast('失败')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适用场景：状态简单 + 失败概率低 + 用户对延迟敏感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总结：SDD 效率曲线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286000" y="868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第2节：帖子模块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868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第4节：互动功能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8046720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功能数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1个（帖子CRUD）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394A"/>
                </a:solidFill>
                <a:latin typeface="微软雅黑"/>
              </a:defRPr>
            </a:pPr>
            <a:r>
              <a:t>3个（评论+投票+收藏）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explore轮次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3轮（Spec+后端+前端）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394A"/>
                </a:solidFill>
                <a:latin typeface="微软雅黑"/>
              </a:defRPr>
            </a:pPr>
            <a:r>
              <a:t>2轮（后端+前端）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代码量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~15个文件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394A"/>
                </a:solidFill>
                <a:latin typeface="微软雅黑"/>
              </a:defRPr>
            </a:pPr>
            <a:r>
              <a:t>~20个文件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8229600" cy="914400"/>
          </a:xfrm>
          <a:prstGeom prst="roundRect">
            <a:avLst/>
          </a:prstGeom>
          <a:solidFill>
            <a:srgbClr val="F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效率曲线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规则越完善，新功能开发越快</a:t>
            </a:r>
          </a:p>
          <a:p>
            <a:pPr>
              <a:spcAft>
                <a:spcPts val="36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前几个模块慢，是在'铺路'；后面的模块快，是在'飙车'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功能多2倍，时间少1/3 → 规则文件替你省掉了 2/3 的描述量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590" y="2103120"/>
            <a:ext cx="65811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内容发现体验优化：帖子列表增强、互动统计与无限滚动</a:t>
            </a:r>
            <a:endParaRPr lang="en-US" sz="28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帖子列表的'素颜照'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微软雅黑"/>
              </a:defRPr>
            </a:pPr>
            <a:r>
              <a:t>当前帖子卡片（只有4项）：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  封面图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  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  标签 Badge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  发布时间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缺失的发现引导：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36576" cy="3657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16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✗  互动统计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点赞数 · 评论数 · 收藏数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737360"/>
            <a:ext cx="36576" cy="3657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719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✗  排序切换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最新 · 最热 · 最多讨论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240280"/>
            <a:ext cx="36576" cy="3657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221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✗  分页加载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23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无限滚动 · 触底加载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从'目录'变成'发现引擎'：互动统计让用户一眼看出什么热门，</a:t>
            </a:r>
            <a:br/>
            <a:r>
              <a:t>无限滚动让用户刷到停不下来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后端：聚合统计 + 分页接口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8229600" cy="31089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目的：为帖子列表补充互动统计和分页能力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PostListResponse 增强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commentCount / upVoteCount / bookmarkCount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→ 通过聚合查询获取，不在PostEntity里存冗余字段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分页增强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cursor-based 分页（基于createdAt）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也兼容 offset/limit | pageSize=12, max=50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返回 nextCursor + hasMore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排序支持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latest (createdAt DESC) / popular (upVote DESC)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/ discussed (commentCount DESC)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遵循 api-conventions + database-conventions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82296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</a:p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</a:p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设计决策：聚合查询 vs 冗余字段 → 当前量级选聚合（YAGNI），量大时切 Redis 缓存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分页对比：cursor-based vs offset/limit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微软雅黑"/>
              </a:defRPr>
            </a:pPr>
            <a:r>
              <a:t>传统 offset/limit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840480" cy="14630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第1页: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LIMIT 12 OFFSET 0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第100页: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LIMIT 12 OFFSET 1188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→ 扫描1200条，丢弃1188条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→ 越深越慢！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cursor-based 分页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34440"/>
            <a:ext cx="3931920" cy="14630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第1页: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ORDER BY created_at DESC LIMIT 12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→ 返回12条 + 最后一条createdAt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第2页: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WHERE created_at &lt; '2024-06-10T08:30'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→ 从书签位置继续取12条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核心区别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54864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微软雅黑"/>
              </a:defRPr>
            </a:pPr>
            <a:r>
              <a:t>跳页支持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930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后台管理用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246120"/>
            <a:ext cx="54864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无限滚动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4930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面向用户用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类比：看书不会从第1页数到第200页 → 直接从书签位置继续读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排序接口：语义化命名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56032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5603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78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latest → 最新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GET /api/posts?sortBy=latest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ORDER BY created_at DESC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最新发布优先展示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868680"/>
            <a:ext cx="256032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868680"/>
            <a:ext cx="256032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978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popular → 最热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28016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GET /api/posts?sortBy=popular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ORDER BY up_vote_count DESC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点赞最多优先展示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868680"/>
            <a:ext cx="256032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868680"/>
            <a:ext cx="25603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978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discussed → 最多讨论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GET /api/posts?sortBy=discussed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ORDER BY comment_count DESC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评论最多优先展示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0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为什么用语义化命名？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803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API 是给前端调的，前端开发者不应该知道数据库字段叫什么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前端关心：'最新' · '最热' · '最多讨论'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而不是：created_at · vote_type · COUNT(*)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前端：卡片增强 + 无限滚动 + 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8229600" cy="303149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2691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/opsx:explore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目的：增强帖子列表页——展示互动统计、支持分页加载和排序切换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1. PostCard 增强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👍 upVoteCount  💬 commentCount  🔖 bookmarkCount</a:t>
            </a:r>
            <a:r>
              <a:rPr lang="en-US"/>
              <a:t> </a:t>
            </a:r>
            <a:r>
              <a:rPr lang="zh-CN" altLang="en-US"/>
              <a:t>且当</a:t>
            </a:r>
            <a:r>
              <a:rPr>
                <a:sym typeface="+mn-ea"/>
              </a:rPr>
              <a:t>bookmarkCount</a:t>
            </a:r>
            <a:r>
              <a:rPr lang="en-US">
                <a:sym typeface="+mn-ea"/>
              </a:rPr>
              <a:t> </a:t>
            </a:r>
            <a:r>
              <a:t>数字为0时不显示 | 超过999显示'1.2k'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2. 无限滚动加载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IntersectionObserver 监听列表底部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触底自动加载下一页 (cursor分页)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骨架屏placeholder + '已经到底啦'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3. 排序切换 Tab：最新 | 最热 | 最多讨论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   切换时清空列表重新加载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4. 遵循frontend-conventions + styling-conventions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14495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两个值得讲的前端技术：产品化的数字展示 + IntersectionObserver 无限滚动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PostCard 增强：从'目录卡片'到'发现卡片'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微软雅黑"/>
              </a:defRPr>
            </a:pPr>
            <a:r>
              <a:t>之前（目录模式）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840480" cy="20116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[封面图]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标签A  标签B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3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2024-06-10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之后（发现引擎）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234440"/>
            <a:ext cx="3931920" cy="2377440"/>
          </a:xfrm>
          <a:prstGeom prst="round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325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[封面图]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002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/>
              </a:defRPr>
            </a:pPr>
            <a:r>
              <a:t>标题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87451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标签A  标签B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4883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★ 👍 24   💬 8   🔖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697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        2024-06-10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两个产品化细节：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38404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3840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044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零值不显示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06240"/>
            <a:ext cx="3566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0评论0点赞 → 底部干净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避免'这内容没人看'的负面暗示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794760"/>
            <a:ext cx="3931920" cy="965835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794760"/>
            <a:ext cx="39319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904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大数字缩写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20624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1247 → '1.2k'  省空间 + 一目了然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Instagram / Twitter 标准做法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无限滚动：IntersectionObserver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微软雅黑"/>
              </a:defRPr>
            </a:pPr>
            <a:r>
              <a:t>反面：'加载更多'按钮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840480" cy="1584325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用户滚到底 → 看到按钮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→ 主动点击 → 发请求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→ 追加数据</a:t>
            </a: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CCCCC"/>
                </a:solidFill>
                <a:latin typeface="Consolas"/>
              </a:defRPr>
            </a:pPr>
            <a:r>
              <a:t>每次都要主动点击，不够流畅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正面：自动触发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34440"/>
            <a:ext cx="3931920" cy="158115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const observer = new IntersectionObserver(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  (entries) =&gt; {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    if (entries[0].isIntersecting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        &amp;&amp; hasMore) {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      loadNextPage(cursor)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800">
                <a:solidFill>
                  <a:srgbClr val="CCCCCC"/>
                </a:solidFill>
                <a:latin typeface="Consolas"/>
              </a:defRPr>
            </a:pPr>
            <a:r>
              <a:t>observer.observe(sentinelRef)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65" y="3271520"/>
            <a:ext cx="14960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实现三步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3415" y="2910205"/>
            <a:ext cx="54864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6295" y="291020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① 放置哨兵元素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0935" y="2910205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列表末尾放一个空div，不可见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3415" y="3294253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6295" y="3294380"/>
            <a:ext cx="156845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② Observer监听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0935" y="3296285"/>
            <a:ext cx="309562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IntersectionObserver盯着哨兵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3415" y="3678301"/>
            <a:ext cx="54864" cy="3200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6295" y="367830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③ 触底加载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0935" y="3683381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哨兵进入屏幕 → 自动加载下一页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9230" y="4105275"/>
            <a:ext cx="58559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加载状态管理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13250"/>
            <a:ext cx="256032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3153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加载中 → 骨架屏(3张卡片)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413250"/>
            <a:ext cx="256032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43153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7AE60"/>
                </a:solidFill>
                <a:latin typeface="微软雅黑"/>
              </a:defRPr>
            </a:pPr>
            <a:r>
              <a:t>加载完成 → 替换为真实卡片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13250"/>
            <a:ext cx="256032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43153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7E22"/>
                </a:solidFill>
                <a:latin typeface="微软雅黑"/>
              </a:defRPr>
            </a:pPr>
            <a:r>
              <a:t>没有更多 → '已经到底啦～'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65675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类比：高速公路收费站 → 不每公里停下来问'到了吗'，经过时自动触发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590" y="2103120"/>
            <a:ext cx="65811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本章小</a:t>
            </a:r>
            <a:r>
              <a:rPr lang="zh-CN" altLang="en-US" sz="28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结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全景图：5节完整路径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86868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32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铺路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规则文件抽取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960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606040" y="86868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932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上路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内容创作功能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960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0" y="86868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932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加固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MySQL接入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960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172199" y="868680"/>
            <a:ext cx="457200" cy="45720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199" y="932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39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赋能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互动交流功能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599" y="960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7955280" y="86868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932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微软雅黑"/>
              </a:defRPr>
            </a:pPr>
            <a:r>
              <a:t>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内容发现体验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194560"/>
            <a:ext cx="8229600" cy="731520"/>
          </a:xfrm>
          <a:prstGeom prst="roundRect">
            <a:avLst/>
          </a:prstGeom>
          <a:solidFill>
            <a:srgbClr val="F0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SDD效率曲线：规则越完善，新功能开发越快</a:t>
            </a:r>
            <a:br/>
            <a:r>
              <a:t>第2节：1个模块 → 3轮explore → 15分钟</a:t>
            </a:r>
            <a:br/>
            <a:r>
              <a:t>第4节：3个功能 → 2轮explore → 10分钟（功能多2倍，时间少1/3）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前几个模块慢，是在铺路；后面的模块快，是在飙车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核心知识线：后端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BaseEntity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@MappedSuperclass · UUID主键 · 5个公共字段</a:t>
            </a:r>
            <a:br/>
            <a:r>
              <a:t>@PrePersist/@PreUpdate · 软删除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27048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453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三层架构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727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Controller: 参数校验 → Service: 业务逻辑 → Repository: 数据访问</a:t>
            </a:r>
            <a:br/>
            <a:r>
              <a:t>禁止Controller直接返回Entity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85415"/>
            <a:ext cx="54864" cy="50292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0370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投票三段式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31135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不存在→创建 / 相同→删除 / 不同→切换</a:t>
            </a:r>
            <a:br/>
            <a:r>
              <a:t>分离式API: POST + DELETE + 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43784"/>
            <a:ext cx="54864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聚合统计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88950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批量查询避免N+1 · YAGNI原则</a:t>
            </a:r>
            <a:br/>
            <a:r>
              <a:t>当前量级选聚合，量大时切Redis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54864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分页策略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47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cursor: 无限滚动 · offset: 跳页</a:t>
            </a:r>
            <a:br/>
            <a:r>
              <a:t>cursor适合createdAt排序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核心知识线：前端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微软雅黑"/>
              </a:defRPr>
            </a:pPr>
            <a:r>
              <a:t>组件分工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9144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Server Component: 渲染列表（SEO友好）</a:t>
            </a:r>
            <a:br/>
            <a:r>
              <a:t>Client Component: 处理交互（'use client'）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27048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453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微软雅黑"/>
              </a:defRPr>
            </a:pPr>
            <a:r>
              <a:t>Markdown编辑器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7276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存Markdown纯文本 → ReactMarkdown渲染</a:t>
            </a:r>
            <a:br/>
            <a:r>
              <a:t>对AI友好（纯文本好diff），对渲染也友好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85415"/>
            <a:ext cx="54864" cy="50292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03703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乐观更新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231135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点击→立刻更新UI→同时调API→失败回滚</a:t>
            </a:r>
            <a:br/>
            <a:r>
              <a:t>适用：状态简单、失败概率低、延迟敏感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43784"/>
            <a:ext cx="54864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IntersectionObserver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8950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哨兵元素 + 触底自动加载</a:t>
            </a:r>
            <a:br/>
            <a:r>
              <a:t>比scroll事件监听性能更好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54864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骨架屏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54787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不是装饰，是用户心理管理</a:t>
            </a:r>
            <a:br/>
            <a:r>
              <a:t>灰色占位块 → 真实内容替换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394A"/>
                </a:solidFill>
                <a:latin typeface="微软雅黑"/>
              </a:defRPr>
            </a:pPr>
            <a:r>
              <a:t>后端 + 前端 = 完整的全栈开发能力模型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面试知识点盘点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27432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274320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架构设计类（高频）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① SDD工作流 + Prompt设计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② 三层规则体系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③ BaseEntity设计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考察：系统设计思维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考察：AI协作能力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868680"/>
            <a:ext cx="27432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868680"/>
            <a:ext cx="274320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API设计类（高频）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28016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④ 投票API：分离式POST+DELETE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⑤ 乐观更新：先UI后API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考察：RESTful设计能力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考察：前端性能优化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868680"/>
            <a:ext cx="27432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86868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技术实现类（中高频）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⑥ N+1问题 + 批量查询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⑦ cursor分页 vs offset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⑧ IntersectionObserver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考察：数据库优化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考察：前端实现细节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微软雅黑"/>
              </a:defRPr>
            </a:pPr>
            <a:r>
              <a:t>面试故事线：我用SDD+Harness开发了一个社交模块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F0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先用规则文件约束AI行为 → 再逐模块开发（帖子→MySQL→互动→发现）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每个模块都遵循 explore→propose→apply 的流程</a:t>
            </a:r>
          </a:p>
          <a:p>
            <a:pPr>
              <a:spcAft>
                <a:spcPts val="330"/>
              </a:spcAft>
              <a:defRPr sz="1100">
                <a:solidFill>
                  <a:srgbClr val="2D2D2D"/>
                </a:solidFill>
                <a:latin typeface="微软雅黑"/>
              </a:defRPr>
            </a:pPr>
            <a:r>
              <a:t>规则越完善，开发越快 → 这就是SDD的效率曲线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高频考点：架构设计类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4114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411480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784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① SDD工作流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explore → propose → apply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Prompt三段式：目标 + 现状 + 期望方案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你写得越具体，AI输出越精准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68680"/>
            <a:ext cx="429768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9784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② 三层规则体系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28016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AGENTS.md: 用什么（技术栈 + 禁止动作）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rules/: 怎么写（5个编码规范文件）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Spec: 做什么（WHEN/THEN验收标准）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286000"/>
            <a:ext cx="4114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41148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95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③ BaseEntity设计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974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@MappedSuperclass（不是Entity）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UUID主键（避免ID可预测）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@PrePersist/@PreUpdate（自动时间戳）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isDeleted（软删除，数据不真删）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286000"/>
            <a:ext cx="4297680" cy="11887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微软雅黑"/>
              </a:defRPr>
            </a:pPr>
            <a:r>
              <a:t>类比：连锁餐厅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974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666666"/>
                </a:solidFill>
                <a:latin typeface="微软雅黑"/>
              </a:defRPr>
            </a:pPr>
            <a:r>
              <a:t>公司章程 = AGENTS.md（用什么供应商）</a:t>
            </a:r>
          </a:p>
          <a:p>
            <a:pPr>
              <a:spcAft>
                <a:spcPts val="300"/>
              </a:spcAft>
              <a:defRPr sz="1000">
                <a:solidFill>
                  <a:srgbClr val="666666"/>
                </a:solidFill>
                <a:latin typeface="微软雅黑"/>
              </a:defRPr>
            </a:pPr>
            <a:r>
              <a:t>部门手册 = rules/（每道菜怎么做）</a:t>
            </a:r>
          </a:p>
          <a:p>
            <a:pPr>
              <a:spcAft>
                <a:spcPts val="300"/>
              </a:spcAft>
              <a:defRPr sz="1000">
                <a:solidFill>
                  <a:srgbClr val="666666"/>
                </a:solidFill>
                <a:latin typeface="微软雅黑"/>
              </a:defRPr>
            </a:pPr>
            <a:r>
              <a:t>每张订单 = Spec（客人要什么）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高频考点：API设计类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411480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411480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784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④ 投票API：分离式设计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POST /posts/{id}/vote → 创建或切换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DELETE /posts/{id}/vote → 明确取消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GET /posts/{id}/vote-stats → 获取统计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DELETE天然幂等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GitHub Star / Twitter Follow 同款设计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68680"/>
            <a:ext cx="429768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9784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⑤ 乐观更新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280160"/>
            <a:ext cx="4023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点击 → 立刻更新UI(+1) → 调API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成功 → 保持 / 失败 → 回滚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适用：状态简单、失败概率低、延迟敏感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不适用：金额计算、库存扣减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743200"/>
            <a:ext cx="859536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类比：餐厅点菜</a:t>
            </a:r>
            <a:br/>
            <a:r>
              <a:t>服务员先写'已点'（乐观更新）→ 去厨房下单 → 99%成功，1%没菜了再道歉（回滚）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中高频考点：技术实现类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27432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2743200" cy="36576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394A"/>
                </a:solidFill>
                <a:latin typeface="微软雅黑"/>
              </a:defRPr>
            </a:pPr>
            <a:r>
              <a:t>⑥ N+1问题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12篇帖子 × 逐条查询 = 36次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解决：批量 GROUP BY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3张表各查一次 = 3次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YAGNI：当前不需要Redis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868680"/>
            <a:ext cx="27432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868680"/>
            <a:ext cx="274320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微软雅黑"/>
              </a:defRPr>
            </a:pPr>
            <a:r>
              <a:t>⑦ cursor分页 vs offset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280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offset: 越深越慢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cursor: 记住终点继续取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cursor像书签，offset像数页数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Instagram/小红书都用cursor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868680"/>
            <a:ext cx="27432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86868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978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⑧ IntersectionObserver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哨兵元素 + 触底触发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浏览器原生API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比scroll事件性能更好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不用每帧计算位置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468880"/>
            <a:ext cx="8595360" cy="1371600"/>
          </a:xfrm>
          <a:prstGeom prst="roundRect">
            <a:avLst/>
          </a:prstGeom>
          <a:solidFill>
            <a:srgbClr val="F0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微软雅黑"/>
              </a:defRPr>
            </a:pPr>
            <a:r>
              <a:t>面试对比表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✓ cursor分页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✗ offset分页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cursor: 记住终点继续取 / offset: 从第一页开始数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✓ 批量查询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✗ 逐条查询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1089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3次GROUP BY vs 36次countByPostId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37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✓ 乐观更新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337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✗ 悲观更新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3375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先更新UI再调API vs 等API成功才更新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66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微软雅黑"/>
              </a:defRPr>
            </a:pPr>
            <a:r>
              <a:t>✓ IntersectionObserver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566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✗ scroll事件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566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/>
              </a:defRPr>
            </a:pPr>
            <a:r>
              <a:t>浏览器原生触发 vs 每帧计算位置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394A"/>
                </a:solidFill>
                <a:latin typeface="微软雅黑"/>
              </a:defRPr>
            </a:pPr>
            <a:r>
              <a:t>中频考点 + 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58368"/>
            <a:ext cx="5486400" cy="27432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411480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41148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784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中频考点速记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3840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ddl-auto: 开发update / CI create-drop / 生产Flyway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utf8mb4: MySQL的utf8是阉割版（3字节）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评论自引用: parentCommentId，限制2层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Markdown: 存纯文本，对AI友好，对渲染也友好</a:t>
            </a:r>
          </a:p>
          <a:p>
            <a:pPr>
              <a:spcAft>
                <a:spcPts val="27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规则拆分: 按'谁用'来分，避免token噪音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1463040"/>
          </a:xfrm>
          <a:prstGeom prst="roundRect">
            <a:avLst/>
          </a:prstGeom>
          <a:solidFill>
            <a:srgbClr val="F0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微软雅黑"/>
              </a:defRPr>
            </a:pPr>
            <a:r>
              <a:t>面试故事模板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801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微软雅黑"/>
              </a:defRPr>
            </a:pPr>
            <a:r>
              <a:t>'我用SDD+Harness开发了一个社交模块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微软雅黑"/>
              </a:defRPr>
            </a:pPr>
            <a:r>
              <a:t>先用规则文件约束AI行为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微软雅黑"/>
              </a:defRPr>
            </a:pPr>
            <a:r>
              <a:t>再逐模块开发——帖子、MySQL、互动、发现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微软雅黑"/>
              </a:defRPr>
            </a:pPr>
            <a:r>
              <a:t>规则越完善，开发越快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微软雅黑"/>
              </a:defRPr>
            </a:pPr>
            <a:r>
              <a:t>从15分钟3轮 → 10分钟2轮'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394A"/>
                </a:solidFill>
                <a:latin typeface="微软雅黑"/>
              </a:defRPr>
            </a:pPr>
            <a:r>
              <a:t>一句话总结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822960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好的工程实践不是限制AI，</a:t>
            </a:r>
            <a:br/>
            <a:r>
              <a:t>而是让AI在正确的方向上跑得更快——</a:t>
            </a:r>
            <a:br/>
            <a:r>
              <a:t>规则文件是护栏，Spec是蓝图，AI是施工队。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PA" val="v3.0.1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MGRjODRhYWQxYThhYzQ5MjM3MTY5N2VkYzFjOWUzZ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16999</Words>
  <Application>WPS 演示</Application>
  <PresentationFormat>On-screen Show (16:9)</PresentationFormat>
  <Paragraphs>1678</Paragraphs>
  <Slides>58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83" baseType="lpstr">
      <vt:lpstr>Arial</vt:lpstr>
      <vt:lpstr>宋体</vt:lpstr>
      <vt:lpstr>Wingdings</vt:lpstr>
      <vt:lpstr>微软雅黑</vt:lpstr>
      <vt:lpstr>Meiryo</vt:lpstr>
      <vt:lpstr>方正兰亭黑简体</vt:lpstr>
      <vt:lpstr>微软雅黑</vt:lpstr>
      <vt:lpstr>汉仪旗黑</vt:lpstr>
      <vt:lpstr>微软雅黑</vt:lpstr>
      <vt:lpstr>微软雅黑</vt:lpstr>
      <vt:lpstr>Consolas</vt:lpstr>
      <vt:lpstr>Calibri</vt:lpstr>
      <vt:lpstr>Helvetica Neue</vt:lpstr>
      <vt:lpstr>Hiragino Sans</vt:lpstr>
      <vt:lpstr>宋体</vt:lpstr>
      <vt:lpstr>Arial Unicode MS</vt:lpstr>
      <vt:lpstr>等线</vt:lpstr>
      <vt:lpstr>汉仪中等线KW</vt:lpstr>
      <vt:lpstr>汉仪书宋二KW</vt:lpstr>
      <vt:lpstr>Apple Color Emoji</vt:lpstr>
      <vt:lpstr>苹方-简</vt:lpstr>
      <vt:lpstr>儷宋 Pro</vt:lpstr>
      <vt:lpstr>汉仪中黑KW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SDD+Harness规范实战社交模块开发</dc:title>
  <dc:creator>MOOC Course</dc:creator>
  <dc:subject>PptxGenJS Presentation</dc:subject>
  <cp:lastModifiedBy>testtest</cp:lastModifiedBy>
  <cp:revision>42</cp:revision>
  <dcterms:created xsi:type="dcterms:W3CDTF">2026-06-12T16:10:16Z</dcterms:created>
  <dcterms:modified xsi:type="dcterms:W3CDTF">2026-06-12T16:10:16Z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F7F1CCB01AB702C3280F246A5F9ADEEA_42</vt:lpwstr>
  </property>
  <property fmtid="{D5CDD505-2E9C-101B-9397-08002B2CF9AE}" pid="3" name="KSOProductBuildVer">
    <vt:lpwstr>2052-3.9.4.6398</vt:lpwstr>
  </property>
</Properties>
</file>