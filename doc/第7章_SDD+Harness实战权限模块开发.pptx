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6" r:id="rId3"/>
    <p:sldId id="256" r:id="rId4"/>
    <p:sldId id="297" r:id="rId6"/>
    <p:sldId id="298" r:id="rId7"/>
    <p:sldId id="299" r:id="rId8"/>
    <p:sldId id="300" r:id="rId9"/>
    <p:sldId id="301" r:id="rId10"/>
    <p:sldId id="259" r:id="rId11"/>
    <p:sldId id="321" r:id="rId12"/>
    <p:sldId id="322" r:id="rId13"/>
    <p:sldId id="323" r:id="rId14"/>
    <p:sldId id="324" r:id="rId15"/>
    <p:sldId id="325" r:id="rId16"/>
    <p:sldId id="326" r:id="rId17"/>
    <p:sldId id="262" r:id="rId18"/>
    <p:sldId id="265" r:id="rId19"/>
    <p:sldId id="268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274" r:id="rId29"/>
    <p:sldId id="339" r:id="rId30"/>
    <p:sldId id="340" r:id="rId31"/>
    <p:sldId id="341" r:id="rId32"/>
    <p:sldId id="342" r:id="rId33"/>
    <p:sldId id="343" r:id="rId34"/>
    <p:sldId id="344" r:id="rId35"/>
  </p:sldIdLst>
  <p:sldSz cx="9144000" cy="5143500"/>
  <p:notesSz cx="5143500" cy="9144000"/>
  <p:custDataLst>
    <p:tags r:id="rId3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tags" Target="tags/tag18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0" y="3329929"/>
            <a:ext cx="9142810" cy="68690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3" name="TextBox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9489" y="3467784"/>
            <a:ext cx="322178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algn="ctr"/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Freeform 5"/>
          <p:cNvSpPr/>
          <p:nvPr>
            <p:custDataLst>
              <p:tags r:id="rId3"/>
            </p:custDataLst>
          </p:nvPr>
        </p:nvSpPr>
        <p:spPr bwMode="auto">
          <a:xfrm rot="1855731">
            <a:off x="3071186" y="756255"/>
            <a:ext cx="480168" cy="43292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6" name="Freeform 5"/>
          <p:cNvSpPr/>
          <p:nvPr>
            <p:custDataLst>
              <p:tags r:id="rId4"/>
            </p:custDataLst>
          </p:nvPr>
        </p:nvSpPr>
        <p:spPr bwMode="auto">
          <a:xfrm rot="1855731">
            <a:off x="4061994" y="706021"/>
            <a:ext cx="256127" cy="23092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7" name="Freeform 5"/>
          <p:cNvSpPr/>
          <p:nvPr>
            <p:custDataLst>
              <p:tags r:id="rId5"/>
            </p:custDataLst>
          </p:nvPr>
        </p:nvSpPr>
        <p:spPr bwMode="auto">
          <a:xfrm rot="1855731">
            <a:off x="2331235" y="901917"/>
            <a:ext cx="254888" cy="229810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8" name="Freeform 5"/>
          <p:cNvSpPr/>
          <p:nvPr>
            <p:custDataLst>
              <p:tags r:id="rId6"/>
            </p:custDataLst>
          </p:nvPr>
        </p:nvSpPr>
        <p:spPr bwMode="auto">
          <a:xfrm rot="1855731">
            <a:off x="4769497" y="871661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9" name="Freeform 5"/>
          <p:cNvSpPr/>
          <p:nvPr>
            <p:custDataLst>
              <p:tags r:id="rId7"/>
            </p:custDataLst>
          </p:nvPr>
        </p:nvSpPr>
        <p:spPr bwMode="auto">
          <a:xfrm rot="1855731">
            <a:off x="5615878" y="774997"/>
            <a:ext cx="173846" cy="156742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30" name="Freeform 5"/>
          <p:cNvSpPr/>
          <p:nvPr>
            <p:custDataLst>
              <p:tags r:id="rId8"/>
            </p:custDataLst>
          </p:nvPr>
        </p:nvSpPr>
        <p:spPr bwMode="auto">
          <a:xfrm rot="1855731">
            <a:off x="6314536" y="807438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481845" y="2703476"/>
            <a:ext cx="2108646" cy="1901183"/>
            <a:chOff x="3720691" y="2824413"/>
            <a:chExt cx="1341120" cy="1209172"/>
          </a:xfrm>
        </p:grpSpPr>
        <p:sp>
          <p:nvSpPr>
            <p:cNvPr id="32" name="Freeform 5"/>
            <p:cNvSpPr/>
            <p:nvPr>
              <p:custDataLst>
                <p:tags r:id="rId9"/>
              </p:custDataLst>
            </p:nvPr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  <p:sp>
          <p:nvSpPr>
            <p:cNvPr id="33" name="Freeform 5"/>
            <p:cNvSpPr/>
            <p:nvPr>
              <p:custDataLst>
                <p:tags r:id="rId10"/>
              </p:custDataLst>
            </p:nvPr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>
                    <a:lumMod val="50000"/>
                    <a:lumOff val="50000"/>
                  </a:srgbClr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</p:grpSp>
      <p:grpSp>
        <p:nvGrpSpPr>
          <p:cNvPr id="35" name="71"/>
          <p:cNvGrpSpPr/>
          <p:nvPr>
            <p:custDataLst>
              <p:tags r:id="rId11"/>
            </p:custDataLst>
          </p:nvPr>
        </p:nvGrpSpPr>
        <p:grpSpPr>
          <a:xfrm>
            <a:off x="1655445" y="1528445"/>
            <a:ext cx="6053455" cy="1397000"/>
            <a:chOff x="4304043" y="1286668"/>
            <a:chExt cx="3837944" cy="2757793"/>
          </a:xfrm>
          <a:effectLst>
            <a:outerShdw blurRad="203200" dist="1524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6" name="72"/>
            <p:cNvSpPr/>
            <p:nvPr>
              <p:custDataLst>
                <p:tags r:id="rId12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37" name="73"/>
            <p:cNvSpPr/>
            <p:nvPr>
              <p:custDataLst>
                <p:tags r:id="rId13"/>
              </p:custDataLst>
            </p:nvPr>
          </p:nvSpPr>
          <p:spPr>
            <a:xfrm>
              <a:off x="4351930" y="1373339"/>
              <a:ext cx="3764602" cy="2584451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38" name="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674495" y="1741170"/>
            <a:ext cx="5994400" cy="101473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 SDD+Harness规范实战权限模块开发</a:t>
            </a:r>
            <a:endParaRPr lang="en-US" sz="30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8" name="圆角矩形"/>
          <p:cNvSpPr/>
          <p:nvPr>
            <p:custDataLst>
              <p:tags r:id="rId15"/>
            </p:custDataLst>
          </p:nvPr>
        </p:nvSpPr>
        <p:spPr>
          <a:xfrm>
            <a:off x="3645079" y="3418964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endParaRPr lang="zh-CN" altLang="en-US" sz="3000" b="1" u="none" strike="noStrike" kern="1200" cap="none" spc="0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3" name="TextBox 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59830" y="3480435"/>
            <a:ext cx="17379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DK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"/>
          <p:cNvSpPr/>
          <p:nvPr>
            <p:custDataLst>
              <p:tags r:id="rId17"/>
            </p:custDataLst>
          </p:nvPr>
        </p:nvSpPr>
        <p:spPr>
          <a:xfrm>
            <a:off x="3645079" y="3418964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权限</a:t>
            </a:r>
            <a:r>
              <a:rPr lang="zh-CN" alt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模块</a:t>
            </a: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实战</a:t>
            </a:r>
            <a:endParaRPr lang="zh-CN" altLang="en-US" sz="3000" b="1" u="none" strike="noStrike" kern="1200" cap="none" spc="0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7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"/>
                            </p:stCondLst>
                            <p:childTnLst>
                              <p:par>
                                <p:cTn id="5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750"/>
                            </p:stCondLst>
                            <p:childTnLst>
                              <p:par>
                                <p:cTn id="6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5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utoUpdateAnimBg="0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8" grpId="0"/>
      <p:bldP spid="18" grpId="0" bldLvl="0" animBg="1"/>
      <p:bldP spid="3" grpId="0" bldLvl="0" autoUpdateAnimBg="0"/>
      <p:bldP spid="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遵循SDD+Harness流程，如何编写登录注册模块的Spec文档？</a:t>
            </a:r>
            <a:endParaRPr lang="en-US" sz="28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反面案例——"帮我写个登录"的翻车现场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200400" cy="4572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Prompt: 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"帮我写个登录功能"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8229600" cy="1097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100" b="0">
                <a:solidFill>
                  <a:srgbClr val="CCCCCC"/>
                </a:solidFill>
                <a:latin typeface="微软雅黑"/>
              </a:rPr>
              <a:t>function login(username, password) {</a:t>
            </a:r>
            <a:endParaRPr sz="11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CCCCCC"/>
                </a:solidFill>
                <a:latin typeface="微软雅黑"/>
              </a:rPr>
              <a:t>  if (username === </a:t>
            </a:r>
            <a:r>
              <a:rPr sz="1100" b="0">
                <a:solidFill>
                  <a:srgbClr val="27AE60"/>
                </a:solidFill>
                <a:latin typeface="微软雅黑"/>
              </a:rPr>
              <a:t>'admin'</a:t>
            </a:r>
            <a:r>
              <a:rPr sz="1100" b="0">
                <a:solidFill>
                  <a:srgbClr val="CCCCCC"/>
                </a:solidFill>
                <a:latin typeface="微软雅黑"/>
              </a:rPr>
              <a:t> &amp;&amp; password === </a:t>
            </a:r>
            <a:r>
              <a:rPr sz="1100" b="0">
                <a:solidFill>
                  <a:srgbClr val="27AE60"/>
                </a:solidFill>
                <a:latin typeface="微软雅黑"/>
              </a:rPr>
              <a:t>'123456'</a:t>
            </a:r>
            <a:r>
              <a:rPr sz="1100" b="0">
                <a:solidFill>
                  <a:srgbClr val="CCCCCC"/>
                </a:solidFill>
                <a:latin typeface="微软雅黑"/>
              </a:rPr>
              <a:t>) {</a:t>
            </a:r>
            <a:endParaRPr sz="11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CCCCCC"/>
                </a:solidFill>
                <a:latin typeface="微软雅黑"/>
              </a:rPr>
              <a:t>    return </a:t>
            </a:r>
            <a:r>
              <a:rPr sz="1100" b="0">
                <a:solidFill>
                  <a:srgbClr val="27AE60"/>
                </a:solidFill>
                <a:latin typeface="微软雅黑"/>
              </a:rPr>
              <a:t>'ok'</a:t>
            </a:r>
            <a:r>
              <a:rPr sz="1100" b="0">
                <a:solidFill>
                  <a:srgbClr val="CCCCCC"/>
                </a:solidFill>
                <a:latin typeface="微软雅黑"/>
              </a:rPr>
              <a:t>;</a:t>
            </a:r>
            <a:endParaRPr sz="11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CCCCCC"/>
                </a:solidFill>
                <a:latin typeface="微软雅黑"/>
              </a:rPr>
              <a:t>  }</a:t>
            </a:r>
            <a:endParaRPr sz="11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微软雅黑"/>
              </a:rPr>
              <a:t>}</a:t>
            </a:r>
            <a:endParaRPr sz="1100" b="0">
              <a:solidFill>
                <a:srgbClr val="CCCCCC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606040" cy="105156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819400"/>
            <a:ext cx="347472" cy="347472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154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密码明文比较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4015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密码硬编码在代码里</a:t>
            </a:r>
            <a:br/>
            <a:r>
              <a:t>这不是登录，是开卷考试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743200"/>
            <a:ext cx="2606040" cy="105156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2819400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8040" y="3154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无失败限制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8040" y="34015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攻击者可以无限次尝试密码</a:t>
            </a:r>
            <a:br/>
            <a:r>
              <a:t>暴力破解的练习场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43200"/>
            <a:ext cx="2606040" cy="105156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2819400"/>
            <a:ext cx="347472" cy="347472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2680" y="3154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无Token/无过期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2680" y="34015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"return ok" 然后呢？</a:t>
            </a:r>
            <a:br/>
            <a:r>
              <a:t>刷新页面又要重新登录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核心观点：</a:t>
            </a:r>
            <a:r>
              <a:rPr sz="1200" b="1">
                <a:solidFill>
                  <a:srgbClr val="333333"/>
                </a:solidFill>
                <a:latin typeface="微软雅黑"/>
              </a:rPr>
              <a:t>AI不是不会写，是你没告诉它"什么叫登录成功"。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Spec就是定义"什么叫成功"的契约。</a:t>
            </a:r>
            <a:endParaRPr sz="12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安全边界——哪些字段绝对不能返回前端？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36576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类比：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安全边界就像酒店房卡——你只需要知道"这扇门能不能开"，不需要知道锁芯的内部结构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874519" cy="201168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8" y="1402080"/>
            <a:ext cx="320040" cy="32004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73736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password_hash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984248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33333"/>
                </a:solidFill>
                <a:latin typeface="微软雅黑"/>
              </a:defRPr>
            </a:pPr>
            <a:r>
              <a:t>密码哈希值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4028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拿到哈希可用彩虹表反推</a:t>
            </a:r>
            <a:br/>
            <a:r>
              <a:t>或做撞库攻击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325880"/>
            <a:ext cx="1874519" cy="201168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18687" y="1402080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5079" y="173736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salt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5079" y="1984248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33333"/>
                </a:solidFill>
                <a:latin typeface="微软雅黑"/>
              </a:defRPr>
            </a:pPr>
            <a:r>
              <a:t>密码加盐值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5079" y="224028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salt+hash 组合后</a:t>
            </a:r>
            <a:br/>
            <a:r>
              <a:t>破解难度降一个数量级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8" y="1325880"/>
            <a:ext cx="1874519" cy="201168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30366" y="1402080"/>
            <a:ext cx="320040" cy="3200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58" y="173736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verification_code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58" y="1984248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33333"/>
                </a:solidFill>
                <a:latin typeface="微软雅黑"/>
              </a:defRPr>
            </a:pPr>
            <a:r>
              <a:t>邮箱验证码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6758" y="224028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返回前端=任何人都能</a:t>
            </a:r>
            <a:br/>
            <a:r>
              <a:t>帮你"验证"邮箱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37" y="1325880"/>
            <a:ext cx="1874519" cy="20116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42045" y="1402080"/>
            <a:ext cx="320040" cy="3200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8437" y="173736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user_id (内部)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8437" y="1984248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33333"/>
                </a:solidFill>
                <a:latin typeface="微软雅黑"/>
              </a:defRPr>
            </a:pPr>
            <a:r>
              <a:t>数据库自增ID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8437" y="224028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暴露系统用户总量</a:t>
            </a:r>
            <a:br/>
            <a:r>
              <a:t>方便枚举攻击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20440"/>
            <a:ext cx="8046720" cy="6400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661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Spec写法：</a:t>
            </a:r>
            <a:r>
              <a:rPr sz="1200" b="0">
                <a:solidFill>
                  <a:srgbClr val="CCCCCC"/>
                </a:solidFill>
                <a:latin typeface="微软雅黑"/>
              </a:rPr>
              <a:t>Response中禁止包含 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password_hash / salt / verification_code</a:t>
            </a:r>
            <a:r>
              <a:rPr sz="1200" b="0">
                <a:solidFill>
                  <a:srgbClr val="CCCCCC"/>
                </a:solidFill>
                <a:latin typeface="微软雅黑"/>
              </a:rPr>
              <a:t> 字段，违反即为 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P0 bug</a:t>
            </a:r>
            <a:endParaRPr sz="12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状态机——用户不止"存在/不存在"两种状态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36576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类比：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银行账户状态——正常/冻结/销户/未激活，每种状态对应不同操作权限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046720" cy="3657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639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639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中文名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639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HTTP响应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639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触发条件 / 说明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09928"/>
            <a:ext cx="8046720" cy="594360"/>
          </a:xfrm>
          <a:prstGeom prst="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1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11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正常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11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200 +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11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登录成功，返回完整token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04288"/>
            <a:ext cx="8046720" cy="59436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0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4058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锁定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05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423 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058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密码连错5次→锁定30min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98648"/>
            <a:ext cx="8046720" cy="594360"/>
          </a:xfrm>
          <a:prstGeom prst="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00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deleted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000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已删除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000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401 Unauthorized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000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假装用户不存在！不能返回404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93008"/>
            <a:ext cx="8046720" cy="594360"/>
          </a:xfrm>
          <a:prstGeom prst="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94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email_unverified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594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未验证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59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E44AD"/>
                </a:solidFill>
                <a:latin typeface="微软雅黑"/>
              </a:defRPr>
            </a:pPr>
            <a:r>
              <a:t>403 Forbidden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594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提示"请先验证邮箱"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86200"/>
            <a:ext cx="8046720" cy="54864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1363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重点：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deleted返回401而不是404 → 404等于告诉攻击者"这个账号不存在，换一个试试"。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 让攻击者永远猜不出是密码错还是账号不存在。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/opsx:explore 实操——三步生成auth Spec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560320" cy="18288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08760" y="924560"/>
            <a:ext cx="384048" cy="38404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32588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发起探索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0020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/opsx:explore</a:t>
            </a:r>
            <a:br/>
            <a:r>
              <a:t>输入约束条件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057400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安全边界 + 状态机</a:t>
            </a:r>
            <a:br/>
            <a:r>
              <a:t>作为Context喂给AI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42920" y="1463040"/>
            <a:ext cx="13208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822960"/>
            <a:ext cx="2560320" cy="1828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924560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600" y="132588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AI输出初稿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160020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auth-login.md</a:t>
            </a:r>
            <a:br/>
            <a:r>
              <a:t>auth-register.md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2057400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骨架完整：</a:t>
            </a:r>
            <a:br/>
            <a:r>
              <a:t>边界/WHEN-THEN/验收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86120" y="1463040"/>
            <a:ext cx="13208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822960"/>
            <a:ext cx="2560320" cy="182880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924560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32588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人工审查补漏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9800" y="160020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补AI漏掉的</a:t>
            </a:r>
            <a:br/>
            <a:r>
              <a:t>失败场景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9800" y="2057400"/>
            <a:ext cx="240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密码锁定/邮箱未验证</a:t>
            </a:r>
            <a:br/>
            <a:r>
              <a:t>同IP风控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8046720" cy="1600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81960"/>
            <a:ext cx="7680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人工补漏——AI大概率漏掉的3个失败场景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①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WHEN用户连续5次密码错误 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THEN锁定账号30min AND返回423 AND记录锁定日志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②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WHEN email_unverified用户尝试登录 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THEN返回403 AND提示"请先验证邮箱"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③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WHEN同IP 5min内超20次登录尝试 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THEN返回429 AND临时封禁IP 15min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分工：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AI生成初稿80%，剩下20%"边界中的边界"只有人能审出来</a:t>
            </a:r>
            <a:endParaRPr sz="11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Spec写完了——但"token"到底是什么？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046720" cy="36576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已完成：</a:t>
            </a:r>
            <a:r>
              <a:rPr sz="1200" b="1">
                <a:solidFill>
                  <a:srgbClr val="333333"/>
                </a:solidFill>
                <a:latin typeface="微软雅黑"/>
              </a:rPr>
              <a:t>安全边界 ✓   状态机 ✓   成功路径 ✓   失败路径 ✓   WHEN/THEN验收 ✓</a:t>
            </a:r>
            <a:endParaRPr sz="12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28800" y="1463040"/>
            <a:ext cx="54864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6154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Spec中反复出现的关键词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"登录成功 → 返回200 + token"</a:t>
            </a:r>
            <a:endParaRPr sz="1300" b="1">
              <a:solidFill>
                <a:srgbClr val="333333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"token过期 → 返回401"</a:t>
            </a:r>
            <a:endParaRPr sz="1300" b="1">
              <a:solidFill>
                <a:srgbClr val="333333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"持续登录 → refresh_token续命"</a:t>
            </a:r>
            <a:endParaRPr sz="13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2468880" cy="8229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3185160"/>
            <a:ext cx="347472" cy="347472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655" y="3532505"/>
            <a:ext cx="23164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这个token</a:t>
            </a:r>
            <a:br/>
            <a:r>
              <a:rPr lang="en-US"/>
              <a:t>    </a:t>
            </a:r>
            <a:r>
              <a:t>凭什么可信？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108960"/>
            <a:ext cx="2468880" cy="82296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3185160"/>
            <a:ext cx="347472" cy="347472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3532505"/>
            <a:ext cx="23164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怎么保证</a:t>
            </a:r>
            <a:br/>
            <a:r>
              <a:rPr lang="en-US"/>
              <a:t>   </a:t>
            </a:r>
            <a:r>
              <a:t>不被伪造？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108960"/>
            <a:ext cx="2468880" cy="82296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318516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9800" y="3532505"/>
            <a:ext cx="231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过期了怎么</a:t>
            </a:r>
            <a:br/>
            <a:r>
              <a:t>无感续命？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JWT原理深度讲解，Token生成、验证、刷新的完整机制是怎样的？</a:t>
            </a:r>
            <a:endParaRPr lang="en-US" sz="28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JWT是什么？——带签名的明信片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8046720" cy="5486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2980B9"/>
                </a:solidFill>
                <a:latin typeface="微软雅黑"/>
              </a:rPr>
              <a:t>eyJhbGciOiJIUzI1NiJ9</a:t>
            </a:r>
            <a:r>
              <a:rPr sz="1800" b="0">
                <a:solidFill>
                  <a:srgbClr val="FFFFFF"/>
                </a:solidFill>
                <a:latin typeface="微软雅黑"/>
              </a:rPr>
              <a:t>.</a:t>
            </a:r>
            <a:r>
              <a:rPr sz="1400" b="1">
                <a:solidFill>
                  <a:srgbClr val="27AE60"/>
                </a:solidFill>
                <a:latin typeface="微软雅黑"/>
              </a:rPr>
              <a:t>eyJ1c2VySWQiOjEyMywicm9sZSI6IlVTRVIifQ</a:t>
            </a:r>
            <a:r>
              <a:rPr sz="1800" b="0">
                <a:solidFill>
                  <a:srgbClr val="FFFFFF"/>
                </a:solidFill>
                <a:latin typeface="微软雅黑"/>
              </a:rPr>
              <a:t>.</a:t>
            </a:r>
            <a:r>
              <a:rPr sz="1400" b="1">
                <a:solidFill>
                  <a:srgbClr val="C9394A"/>
                </a:solidFill>
                <a:latin typeface="微软雅黑"/>
              </a:rPr>
              <a:t>SflKx4RJSMeKKF2QT4fwpM</a:t>
            </a:r>
            <a:endParaRPr sz="14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560320" cy="192024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630680"/>
            <a:ext cx="235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874520"/>
            <a:ext cx="235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信封封面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2103120"/>
            <a:ext cx="235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{"alg":"HS256",</a:t>
            </a:r>
            <a:br/>
            <a:r>
              <a:t> "typ":"JWT"}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2834640"/>
            <a:ext cx="235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告诉对方用什么算法签名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2560320" cy="192024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2000" y="1630680"/>
            <a:ext cx="235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Payload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000" y="1874520"/>
            <a:ext cx="235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信的内容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000" y="2103120"/>
            <a:ext cx="235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{userId: 123,</a:t>
            </a:r>
            <a:br/>
            <a:r>
              <a:t> role: "USER",</a:t>
            </a:r>
            <a:br/>
            <a:r>
              <a:t> exp: 1710000000}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2000" y="2834640"/>
            <a:ext cx="235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我是谁 + 什么权限 + 何时过期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554480"/>
            <a:ext cx="2560320" cy="192024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5200" y="1630680"/>
            <a:ext cx="235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5200" y="1874520"/>
            <a:ext cx="235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蜡封印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5200" y="2103120"/>
            <a:ext cx="235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HMAC-SHA256(</a:t>
            </a:r>
            <a:br/>
            <a:r>
              <a:t> header.payload,</a:t>
            </a:r>
            <a:br/>
            <a:r>
              <a:t> SECRET_KEY)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5200" y="2834640"/>
            <a:ext cx="235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防篡改——动了内容封印就对不上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8046720" cy="77724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7680960" cy="118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关键提醒：</a:t>
            </a:r>
            <a:endParaRPr sz="12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Payload是base64编码，不是加密！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 任何人都能解码看到内容 → Spec中的四个禁区字段（password_hash/salt等）绝对不能放入Payload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endParaRPr sz="11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JWT不是保险箱，是带签名的明信片——内容谁都能看，但谁都不能改</a:t>
            </a:r>
            <a:endParaRPr sz="1100" b="1">
              <a:solidFill>
                <a:srgbClr val="C9394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Token生成——四步签发流程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874519" cy="14173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432" y="89916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61872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校验密码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36192"/>
            <a:ext cx="1722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用户名密码</a:t>
            </a:r>
            <a:br/>
            <a:r>
              <a:t>匹配成功？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44419" y="128016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822960"/>
            <a:ext cx="1874519" cy="1417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82111" y="89916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5079" y="1261872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查状态机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079" y="1536192"/>
            <a:ext cx="1722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用户是</a:t>
            </a:r>
            <a:br/>
            <a:r>
              <a:t>active？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56098" y="128016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8" y="822960"/>
            <a:ext cx="1874519" cy="141732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3790" y="89916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758" y="1261872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构造Payload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758" y="1536192"/>
            <a:ext cx="1722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最小必要信息</a:t>
            </a:r>
            <a:br/>
            <a:r>
              <a:t>userId+role+exp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67777" y="128016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37" y="822960"/>
            <a:ext cx="1874519" cy="141732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05469" y="899160"/>
            <a:ext cx="365760" cy="36576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8437" y="1261872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Secret Key签名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8437" y="1536192"/>
            <a:ext cx="1722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HMAC-SHA256</a:t>
            </a:r>
            <a:br/>
            <a:r>
              <a:t>→ 拼成三段式JWT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68880"/>
            <a:ext cx="8046720" cy="4572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496312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Secret Key = 你的公章。</a:t>
            </a:r>
            <a:r>
              <a:rPr sz="1200" b="1">
                <a:solidFill>
                  <a:srgbClr val="333333"/>
                </a:solidFill>
                <a:latin typeface="微软雅黑"/>
              </a:rPr>
              <a:t>公章丢了谁都能伪造 → 必须存在服务端环境变量里，绝对不能放到前端代码里</a:t>
            </a:r>
            <a:endParaRPr sz="12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804672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3639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对应Spec验收标准</a:t>
            </a:r>
            <a:endParaRPr sz="12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微软雅黑"/>
              </a:rPr>
              <a:t>WHEN </a:t>
            </a:r>
            <a:r>
              <a:rPr sz="1100" b="1">
                <a:solidFill>
                  <a:srgbClr val="27AE60"/>
                </a:solidFill>
                <a:latin typeface="微软雅黑"/>
              </a:rPr>
              <a:t>用户密码正确 AND 状态为active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 THEN </a:t>
            </a:r>
            <a:r>
              <a:rPr sz="1100" b="1">
                <a:solidFill>
                  <a:srgbClr val="C9394A"/>
                </a:solidFill>
                <a:latin typeface="微软雅黑"/>
              </a:rPr>
              <a:t>返回200 + token</a:t>
            </a:r>
            <a:endParaRPr sz="11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7200" y="3840480"/>
            <a:ext cx="804672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886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67E22"/>
                </a:solidFill>
                <a:latin typeface="微软雅黑"/>
              </a:rPr>
              <a:t>最小必要原则</a:t>
            </a:r>
            <a:endParaRPr sz="1200" b="1">
              <a:solidFill>
                <a:srgbClr val="E67E22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只放 userId + role + exp</a:t>
            </a:r>
            <a:r>
              <a:rPr sz="1100" b="0">
                <a:solidFill>
                  <a:srgbClr val="C9394A"/>
                </a:solidFill>
                <a:latin typeface="微软雅黑"/>
              </a:rPr>
              <a:t>    ✕ 不塞昵称/头像/手机号 → JWT越大每次请求Header越长 → 性能拉胯</a:t>
            </a:r>
            <a:endParaRPr sz="1100" b="0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Token验证——不是两步，是三步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411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  <a:latin typeface="微软雅黑"/>
              </a:rPr>
              <a:t>Authorization: Bearer </a:t>
            </a:r>
            <a:r>
              <a:rPr sz="1100" b="1">
                <a:solidFill>
                  <a:srgbClr val="27AE60"/>
                </a:solidFill>
                <a:latin typeface="微软雅黑"/>
              </a:rPr>
              <a:t>eyJhbG...</a:t>
            </a:r>
            <a:r>
              <a:rPr sz="1100" b="0">
                <a:solidFill>
                  <a:srgbClr val="999999"/>
                </a:solidFill>
                <a:latin typeface="微软雅黑"/>
              </a:rPr>
              <a:t>  ← 前端每次请求都在Header里带上Token</a:t>
            </a:r>
            <a:endParaRPr sz="1100" b="0">
              <a:solidFill>
                <a:srgbClr val="999999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4478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810512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验签名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084832"/>
            <a:ext cx="240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用同一个Secret Key</a:t>
            </a:r>
            <a:br/>
            <a:r>
              <a:t>重新算一遍Signature</a:t>
            </a:r>
            <a:br/>
            <a:r>
              <a:t>→ 跟Token里的对比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65176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不一致 = 被篡改 → 拒绝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0220" y="201168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2560320" cy="1828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1960" y="144780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1810512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查过期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2084832"/>
            <a:ext cx="240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读Payload里的exp字段</a:t>
            </a:r>
            <a:br/>
            <a:r>
              <a:t>跟当前时间对比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600" y="265176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超时 → 返回401</a:t>
            </a:r>
            <a:br/>
            <a:r>
              <a:t>对应Spec：token过期→401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73420" y="201168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1371600"/>
            <a:ext cx="2560320" cy="18288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95160" y="1447800"/>
            <a:ext cx="365760" cy="36576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9800" y="1810512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查状态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9800" y="2084832"/>
            <a:ext cx="240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用userId查数据库</a:t>
            </a:r>
            <a:br/>
            <a:r>
              <a:t>用户还是active吗？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9800" y="265176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locked→423 / deleted→401</a:t>
            </a:r>
            <a:br/>
            <a:r>
              <a:t>对应Spec：状态机四种状态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83280"/>
            <a:ext cx="8046720" cy="59436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1071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重点：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第三步很多人会漏掉！只验签名和过期，不查用户当前状态 → 锁定用户手上的Token在过期前还能继续用 → 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锁定等于没锁</a:t>
            </a:r>
            <a:endParaRPr sz="12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7200" y="4160520"/>
            <a:ext cx="8046720" cy="41148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87952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8E44AD"/>
                </a:solidFill>
                <a:latin typeface="微软雅黑"/>
              </a:rPr>
              <a:t>互动：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偷了Token能改里面的role从USER变成ADMIN吗？ →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不能！改了Payload，Signature就对不上，验签直接失败</a:t>
            </a:r>
            <a:endParaRPr sz="1100" b="1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Token刷新——双token策略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41148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问题：</a:t>
            </a:r>
            <a:r>
              <a:rPr sz="1100" b="0">
                <a:solidFill>
                  <a:srgbClr val="333333"/>
                </a:solidFill>
                <a:latin typeface="微软雅黑"/>
              </a:rPr>
              <a:t>access_token只有15分钟，用户看篇文章就过期了 → 每15分钟弹"请重新登录"？</a:t>
            </a:r>
            <a:endParaRPr sz="11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86200" cy="15087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14478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810512"/>
            <a:ext cx="368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access_token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2084832"/>
            <a:ext cx="368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微软雅黑"/>
              </a:defRPr>
            </a:pPr>
            <a:r>
              <a:t>= 门禁卡 | 有效期15分钟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2286000"/>
            <a:ext cx="368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存放：内存/localStorage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514600"/>
            <a:ext cx="368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每次请求都要带</a:t>
            </a:r>
            <a:br/>
            <a:r>
              <a:t>短命，丢了风险小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371600"/>
            <a:ext cx="3886200" cy="150876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63640" y="144780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9320" y="1810512"/>
            <a:ext cx="368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refresh_token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9320" y="2084832"/>
            <a:ext cx="368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微软雅黑"/>
              </a:defRPr>
            </a:pPr>
            <a:r>
              <a:t>= 身份证 | 有效期7天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9320" y="2286000"/>
            <a:ext cx="368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6666"/>
                </a:solidFill>
                <a:latin typeface="微软雅黑"/>
              </a:defRPr>
            </a:pPr>
            <a:r>
              <a:t>存放：HttpOnly Cookie</a:t>
            </a:r>
            <a:br/>
            <a:r>
              <a:t>+ 服务端DB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9320" y="2514600"/>
            <a:ext cx="368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999999"/>
                </a:solidFill>
                <a:latin typeface="微软雅黑"/>
              </a:defRPr>
            </a:pPr>
            <a:r>
              <a:t>access过期时用它换新</a:t>
            </a:r>
            <a:br/>
            <a:r>
              <a:t>长命，保管更严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8046720" cy="1325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426460"/>
            <a:ext cx="1417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" y="3464560"/>
            <a:ext cx="1315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请求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60" y="3693160"/>
            <a:ext cx="131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带access_token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024380" y="3657600"/>
            <a:ext cx="11176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48840" y="3426460"/>
            <a:ext cx="1417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9640" y="3464560"/>
            <a:ext cx="1315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过期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9640" y="3693160"/>
            <a:ext cx="131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返回401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578860" y="3657600"/>
            <a:ext cx="11176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03320" y="3426460"/>
            <a:ext cx="1417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4120" y="3464560"/>
            <a:ext cx="1315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刷新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4120" y="3693160"/>
            <a:ext cx="131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带refresh_token</a:t>
            </a:r>
            <a:br/>
            <a:r>
              <a:t>→ /auth/refresh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133340" y="3657600"/>
            <a:ext cx="11176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57800" y="3426460"/>
            <a:ext cx="1417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8600" y="3464560"/>
            <a:ext cx="1315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续发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8600" y="3693160"/>
            <a:ext cx="131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新access_token</a:t>
            </a:r>
            <a:br/>
            <a:r>
              <a:t>+ 新refresh_token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687820" y="3657600"/>
            <a:ext cx="11176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12280" y="3426460"/>
            <a:ext cx="1417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3080" y="3464560"/>
            <a:ext cx="1315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继续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3080" y="3693160"/>
            <a:ext cx="131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用户无感</a:t>
            </a:r>
            <a:br/>
            <a:r>
              <a:t>正常请求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1724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刷新流程：全程用户无感，不会看到"请重新登录"</a:t>
            </a:r>
            <a:endParaRPr sz="11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对应Spec：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WHEN access_token过期 AND refresh_token有效 THEN自动续发新token</a:t>
            </a:r>
            <a:endParaRPr sz="1100" b="1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三个常见误区——写JWT一定要避开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8046720" cy="11430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975360"/>
            <a:ext cx="384048" cy="384048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99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把JWT当数据库用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178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C9394A"/>
                </a:solidFill>
                <a:latin typeface="微软雅黑"/>
              </a:rPr>
              <a:t>✕ Payload塞昵称/头像/手机号/积分...</a:t>
            </a:r>
            <a:endParaRPr sz="1000" b="0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→ JWT越来越长 → 每次请求Header越大 → 性能拉胯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54880" y="949960"/>
            <a:ext cx="3566160" cy="685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007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27AE60"/>
                </a:solidFill>
                <a:latin typeface="微软雅黑"/>
              </a:rPr>
              <a:t>✓ 正确做法</a:t>
            </a:r>
            <a:endParaRPr sz="1000" b="1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微软雅黑"/>
              </a:rPr>
              <a:t>只放最小必要信息：userId + role + exp</a:t>
            </a:r>
            <a:endParaRPr sz="10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8046720" cy="114300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255520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79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不搭配HTTPS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5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C9394A"/>
                </a:solidFill>
                <a:latin typeface="微软雅黑"/>
              </a:rPr>
              <a:t>✕ JWT签名很安全，但Token在网络层明文传输</a:t>
            </a:r>
            <a:endParaRPr sz="1000" b="0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→ 中间人截获Token → 直接冒充你发请求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54880" y="2230120"/>
            <a:ext cx="3566160" cy="685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280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27AE60"/>
                </a:solidFill>
                <a:latin typeface="微软雅黑"/>
              </a:rPr>
              <a:t>✓ 正确做法</a:t>
            </a:r>
            <a:endParaRPr sz="1000" b="1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微软雅黑"/>
              </a:rPr>
              <a:t>JWT + HTTPS 是标配，缺一不可</a:t>
            </a:r>
            <a:endParaRPr sz="10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8046720" cy="114300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535680"/>
            <a:ext cx="384048" cy="384048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9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微软雅黑"/>
              </a:defRPr>
            </a:pPr>
            <a:r>
              <a:t>只用一个token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3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C9394A"/>
                </a:solidFill>
                <a:latin typeface="微软雅黑"/>
              </a:rPr>
              <a:t>✕ 一个access_token设7天有效期</a:t>
            </a:r>
            <a:endParaRPr sz="1000" b="0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→ 一旦泄露 → 攻击者能用整整7天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54880" y="3510280"/>
            <a:ext cx="3566160" cy="685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561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27AE60"/>
                </a:solidFill>
                <a:latin typeface="微软雅黑"/>
              </a:rPr>
              <a:t>✓ 正确做法</a:t>
            </a:r>
            <a:endParaRPr sz="1000" b="1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微软雅黑"/>
              </a:rPr>
              <a:t>双token策略：access 15min + refresh 7天，缩小爆炸半径</a:t>
            </a:r>
            <a:endParaRPr sz="1000" b="1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Spec是契约，JWT是执行契约的技术手段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560320" cy="17373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08760" y="899160"/>
            <a:ext cx="347472" cy="347472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3444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Token生成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08760"/>
            <a:ext cx="240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密码校验 → 查状态机</a:t>
            </a:r>
            <a:br/>
            <a:r>
              <a:t>→ 构造最小Payload</a:t>
            </a:r>
            <a:br/>
            <a:r>
              <a:t>→ Secret Key签名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2057400"/>
            <a:ext cx="2407920" cy="127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210312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Spec：密码正确 AND</a:t>
            </a:r>
            <a:br/>
            <a:r>
              <a:t>active → 返回token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822960"/>
            <a:ext cx="2560320" cy="173736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89916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600" y="123444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Token验证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1508760"/>
            <a:ext cx="240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验签名（防篡改）</a:t>
            </a:r>
            <a:br/>
            <a:r>
              <a:t>→ 查过期（防超时）</a:t>
            </a:r>
            <a:br/>
            <a:r>
              <a:t>→ 查状态（防绕过）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6600" y="2057400"/>
            <a:ext cx="2407920" cy="127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6600" y="210312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Spec：状态机</a:t>
            </a:r>
            <a:br/>
            <a:r>
              <a:t>四种状态→四种响应码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822960"/>
            <a:ext cx="2560320" cy="173736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899160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23444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Token刷新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9800" y="1508760"/>
            <a:ext cx="240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access短命15min</a:t>
            </a:r>
            <a:br/>
            <a:r>
              <a:t>refresh长命7天</a:t>
            </a:r>
            <a:br/>
            <a:r>
              <a:t>→ 无感自动续发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9800" y="2057400"/>
            <a:ext cx="2407920" cy="127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9800" y="2103120"/>
            <a:ext cx="240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Spec：过期 AND</a:t>
            </a:r>
            <a:br/>
            <a:r>
              <a:t>refresh有效→自动续发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88920"/>
            <a:ext cx="80467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905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Spec → JWT 完整映射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980B9"/>
                </a:solidFill>
                <a:latin typeface="微软雅黑"/>
              </a:rPr>
              <a:t>安全边界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 → Payload不放敏感信息    </a:t>
            </a:r>
            <a:r>
              <a:rPr sz="1100" b="1">
                <a:solidFill>
                  <a:srgbClr val="27AE60"/>
                </a:solidFill>
                <a:latin typeface="微软雅黑"/>
              </a:rPr>
              <a:t>状态机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 → 验证时查用户当前状态    </a:t>
            </a:r>
            <a:r>
              <a:rPr sz="1100" b="1">
                <a:solidFill>
                  <a:srgbClr val="E67E22"/>
                </a:solidFill>
                <a:latin typeface="微软雅黑"/>
              </a:rPr>
              <a:t>失败路径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 → 锁定期间拒绝生成token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Spec定义了"什么叫登录成功"，JWT保证了"这个成功可信且不可伪造"。</a:t>
            </a:r>
            <a:endParaRPr sz="1300" b="1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前端登录页面开发，如何基于Spec规范实现UI组件与交互逻辑？</a:t>
            </a:r>
            <a:endParaRPr lang="en-US" sz="28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后端认证接口开发，如何实现注册、登录、Token验证的API？</a:t>
            </a:r>
            <a:endParaRPr lang="en-US" sz="28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510145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OpenAPI</a:t>
            </a:r>
            <a:r>
              <a:rPr lang="zh-CN" alt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共享契约：从手写类型到编译时</a:t>
            </a:r>
            <a:r>
              <a:rPr lang="zh-CN" alt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拦截</a:t>
            </a:r>
            <a:endParaRPr lang="zh-CN" altLang="en-US" sz="28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一个真实的惨案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74519" cy="10972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432" y="990600"/>
            <a:ext cx="347472" cy="347472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325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后端字段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00200"/>
            <a:ext cx="1722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user_name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44419" y="123444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914400"/>
            <a:ext cx="1874519" cy="109728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82111" y="990600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5079" y="1325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后端重构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079" y="1600200"/>
            <a:ext cx="1722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userName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56098" y="123444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8" y="914400"/>
            <a:ext cx="1874519" cy="109728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3790" y="99060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758" y="1325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编译通过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758" y="1600200"/>
            <a:ext cx="1722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✓ ✓ ✓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67777" y="123444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37" y="914400"/>
            <a:ext cx="1874519" cy="109728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05469" y="990600"/>
            <a:ext cx="347472" cy="347472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8437" y="1325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上线结果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8437" y="1600200"/>
            <a:ext cx="1722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名字为空 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286000"/>
            <a:ext cx="8046720" cy="54864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31343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根因：</a:t>
            </a:r>
            <a:r>
              <a:rPr sz="1200" b="1">
                <a:solidFill>
                  <a:srgbClr val="333333"/>
                </a:solidFill>
                <a:latin typeface="微软雅黑"/>
              </a:rPr>
              <a:t>前后端的"契约"只存在人的脑子里和Word文档里。后端改了字段，没人通知前端，文档也没更新。</a:t>
            </a:r>
            <a:endParaRPr sz="12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333333"/>
                </a:solidFill>
                <a:latin typeface="微软雅黑"/>
              </a:rPr>
              <a:t>前端手写的类型定义，跟后端代码没有任何机器层面的关联</a:t>
            </a:r>
            <a:endParaRPr sz="1400" b="1">
              <a:solidFill>
                <a:srgbClr val="333333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人维护的契约 → </a:t>
            </a:r>
            <a:r>
              <a:rPr sz="1300" b="1">
                <a:solidFill>
                  <a:srgbClr val="C9394A"/>
                </a:solidFill>
                <a:latin typeface="微软雅黑"/>
              </a:rPr>
              <a:t>人会忘、会漏、会不同步</a:t>
            </a:r>
            <a:endParaRPr sz="13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我们项目的隐患——两段代码的对比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84048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后端 AuthController.java</a:t>
            </a:r>
            <a:endParaRPr sz="12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return ResponseEntity.ok(</a:t>
            </a:r>
            <a:endParaRPr sz="10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E67E22"/>
                </a:solidFill>
                <a:latin typeface="微软雅黑"/>
              </a:rPr>
              <a:t>  Map.of(</a:t>
            </a:r>
            <a:endParaRPr sz="1000" b="1">
              <a:solidFill>
                <a:srgbClr val="E67E22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    "request_id", requestId,</a:t>
            </a:r>
            <a:endParaRPr sz="10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    "access_token", result.accessToken(),</a:t>
            </a:r>
            <a:endParaRPr sz="10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    "expires_in", result.expiresIn()</a:t>
            </a:r>
            <a:endParaRPr sz="10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>
                <a:solidFill>
                  <a:srgbClr val="E67E22"/>
                </a:solidFill>
                <a:latin typeface="微软雅黑"/>
              </a:rPr>
              <a:t>  )</a:t>
            </a:r>
            <a:endParaRPr sz="1000" b="1">
              <a:solidFill>
                <a:srgbClr val="E67E22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);</a:t>
            </a:r>
            <a:endParaRPr sz="1000" b="0">
              <a:solidFill>
                <a:srgbClr val="CCCCCC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C9394A"/>
                </a:solidFill>
                <a:latin typeface="微软雅黑"/>
              </a:rPr>
              <a:t>⚠ Map&lt;String, Object&gt; — 编译器不管key</a:t>
            </a:r>
            <a:endParaRPr sz="10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846320" y="822960"/>
            <a:ext cx="384048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86868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微软雅黑"/>
              </a:rPr>
              <a:t>前端 auth.ts</a:t>
            </a:r>
            <a:endParaRPr sz="1200" b="1">
              <a:solidFill>
                <a:srgbClr val="2980B9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interface LoginData {</a:t>
            </a:r>
            <a:endParaRPr sz="10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27AE60"/>
                </a:solidFill>
                <a:latin typeface="微软雅黑"/>
              </a:rPr>
              <a:t>  access_token: string;</a:t>
            </a:r>
            <a:endParaRPr sz="100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27AE60"/>
                </a:solidFill>
                <a:latin typeface="微软雅黑"/>
              </a:rPr>
              <a:t>  expires_in: number;</a:t>
            </a:r>
            <a:endParaRPr sz="100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27AE60"/>
                </a:solidFill>
                <a:latin typeface="微软雅黑"/>
              </a:rPr>
              <a:t>  request_id: string;</a:t>
            </a:r>
            <a:endParaRPr sz="100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}</a:t>
            </a:r>
            <a:endParaRPr sz="100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C9394A"/>
                </a:solidFill>
                <a:latin typeface="微软雅黑"/>
              </a:rPr>
              <a:t>⚠ 手写类型 — 跟后端无机器绑定</a:t>
            </a:r>
            <a:endParaRPr sz="10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3063240"/>
            <a:ext cx="8046720" cy="4572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两边编译都零报错 ✓</a:t>
            </a:r>
            <a:r>
              <a:rPr sz="1200" b="0">
                <a:solidFill>
                  <a:srgbClr val="333333"/>
                </a:solidFill>
                <a:latin typeface="微软雅黑"/>
              </a:rPr>
              <a:t>  但运行时前端拿到 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undefined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 → 用户登录白屏</a:t>
            </a:r>
            <a:endParaRPr sz="12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微软雅黑"/>
              </a:rPr>
              <a:t>我们需要一种机制，让机器帮我们盯着这个契约</a:t>
            </a:r>
            <a:endParaRPr sz="14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共享Schema——让机器强制对齐类型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36576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定义：</a:t>
            </a:r>
            <a:r>
              <a:rPr sz="1100" b="0">
                <a:solidFill>
                  <a:srgbClr val="333333"/>
                </a:solidFill>
                <a:latin typeface="微软雅黑"/>
              </a:rPr>
              <a:t>让前后端共用同一份类型定义，谁改了一边，另一边自动同步——不靠人通知，靠机器强制</a:t>
            </a:r>
            <a:endParaRPr sz="11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874519" cy="219456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874519" cy="5080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452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OpenAPI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691640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请翻译官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9659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后端生成schema文档</a:t>
            </a:r>
            <a:br/>
            <a:r>
              <a:t>→ 前端自动生成TS类型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6517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9394A"/>
                </a:solidFill>
                <a:latin typeface="微软雅黑"/>
              </a:defRPr>
            </a:pPr>
            <a:r>
              <a:t>跨语言 ✓</a:t>
            </a:r>
            <a:br/>
            <a:r>
              <a:t>最成熟最主流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79" y="1325880"/>
            <a:ext cx="1874519" cy="21945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5079" y="1452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tRPC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5079" y="1691640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说同种语言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5079" y="19659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前后端都是TypeScript</a:t>
            </a:r>
            <a:br/>
            <a:r>
              <a:t>直接import对方类型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5079" y="26517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80B9"/>
                </a:solidFill>
                <a:latin typeface="微软雅黑"/>
              </a:defRPr>
            </a:pPr>
            <a:r>
              <a:t>同语言 ✓</a:t>
            </a:r>
            <a:br/>
            <a:r>
              <a:t>最轻量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8" y="1325880"/>
            <a:ext cx="1874519" cy="219456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6758" y="1452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微软雅黑"/>
              </a:defRPr>
            </a:pPr>
            <a:r>
              <a:t>Protobuf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58" y="1691640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密码本通信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6758" y="19659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写.proto文件</a:t>
            </a:r>
            <a:br/>
            <a:r>
              <a:t>两端各自生成代码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758" y="26517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微软雅黑"/>
              </a:defRPr>
            </a:pPr>
            <a:r>
              <a:t>微服务 ✓</a:t>
            </a:r>
            <a:br/>
            <a:r>
              <a:t>最高性能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37" y="1325880"/>
            <a:ext cx="1874519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8437" y="1452880"/>
            <a:ext cx="1722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99999"/>
                </a:solidFill>
                <a:latin typeface="微软雅黑"/>
              </a:defRPr>
            </a:pPr>
            <a:r>
              <a:t>手写对齐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8437" y="1691640"/>
            <a:ext cx="17221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口头传达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8437" y="19659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人肉看文档</a:t>
            </a:r>
            <a:br/>
            <a:r>
              <a:t>手写类型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8437" y="2651760"/>
            <a:ext cx="1722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项目小</a:t>
            </a:r>
            <a:br/>
            <a:r>
              <a:t>最易出错 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49039"/>
            <a:ext cx="804672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76472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我们项目选 OpenAPI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</a:rPr>
              <a:t>Spring Boot (Java) + Next.js (TypeScript) = </a:t>
            </a:r>
            <a:r>
              <a:rPr sz="1100" b="1">
                <a:solidFill>
                  <a:srgbClr val="C9394A"/>
                </a:solidFill>
                <a:latin typeface="微软雅黑"/>
              </a:rPr>
              <a:t>跨语言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  →  tRPC不适用（需全TS）  Protobuf太重  手写已证明有隐患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OpenAPI三步工作架构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560320" cy="18288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08760" y="89916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8016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springdoc-openapi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54480"/>
            <a:ext cx="240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扫描Java Controller</a:t>
            </a:r>
            <a:br/>
            <a:r>
              <a:t>自动生成JSON Schema</a:t>
            </a:r>
            <a:br/>
            <a:r>
              <a:t>/v3/api-docs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30220" y="146304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822960"/>
            <a:ext cx="2560320" cy="1828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51960" y="89916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0" y="128016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openapi-typescript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600" y="1554480"/>
            <a:ext cx="240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读取JSON Schema</a:t>
            </a:r>
            <a:br/>
            <a:r>
              <a:t>自动生成TS类型定义</a:t>
            </a:r>
            <a:br/>
            <a:r>
              <a:t>schema.d.ts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73420" y="146304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822960"/>
            <a:ext cx="2560320" cy="18288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95160" y="899160"/>
            <a:ext cx="365760" cy="36576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9800" y="128016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tsc编译检查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9800" y="1554480"/>
            <a:ext cx="240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后端改字段名</a:t>
            </a:r>
            <a:br/>
            <a:r>
              <a:t>→ 重新生成</a:t>
            </a:r>
            <a:br/>
            <a:r>
              <a:t>→ 前端编译报错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8046720" cy="914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5656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2980B9"/>
                </a:solidFill>
                <a:latin typeface="微软雅黑"/>
              </a:rPr>
              <a:t>LoginResponse</a:t>
            </a:r>
            <a:r>
              <a:rPr sz="1200" b="0">
                <a:solidFill>
                  <a:srgbClr val="999999"/>
                </a:solidFill>
                <a:latin typeface="微软雅黑"/>
              </a:rPr>
              <a:t>.java</a:t>
            </a:r>
            <a:r>
              <a:rPr sz="1200" b="0">
                <a:solidFill>
                  <a:srgbClr val="999999"/>
                </a:solidFill>
                <a:latin typeface="微软雅黑"/>
              </a:rPr>
              <a:t>  ──springdoc──→  </a:t>
            </a:r>
            <a:r>
              <a:rPr sz="1200" b="1">
                <a:solidFill>
                  <a:srgbClr val="27AE60"/>
                </a:solidFill>
                <a:latin typeface="微软雅黑"/>
              </a:rPr>
              <a:t>api-docs.json</a:t>
            </a:r>
            <a:r>
              <a:rPr sz="1200" b="0">
                <a:solidFill>
                  <a:srgbClr val="999999"/>
                </a:solidFill>
                <a:latin typeface="微软雅黑"/>
              </a:rPr>
              <a:t>  ──openapi-ts──→  </a:t>
            </a:r>
            <a:r>
              <a:rPr sz="1200" b="1">
                <a:solidFill>
                  <a:srgbClr val="E67E22"/>
                </a:solidFill>
                <a:latin typeface="微软雅黑"/>
              </a:rPr>
              <a:t>schema.d.ts</a:t>
            </a:r>
            <a:endParaRPr sz="1200" b="1">
              <a:solidFill>
                <a:srgbClr val="E67E22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  <a:latin typeface="微软雅黑"/>
              </a:rPr>
              <a:t>access_token: String</a:t>
            </a:r>
            <a:r>
              <a:rPr sz="1000" b="0">
                <a:solidFill>
                  <a:srgbClr val="999999"/>
                </a:solidFill>
                <a:latin typeface="微软雅黑"/>
              </a:rPr>
              <a:t>       →       </a:t>
            </a:r>
            <a:r>
              <a:rPr sz="1000" b="0">
                <a:solidFill>
                  <a:srgbClr val="CCCCCC"/>
                </a:solidFill>
                <a:latin typeface="微软雅黑"/>
              </a:rPr>
              <a:t>"access_token": {"type":"string"}</a:t>
            </a:r>
            <a:r>
              <a:rPr sz="1000" b="0">
                <a:solidFill>
                  <a:srgbClr val="999999"/>
                </a:solidFill>
                <a:latin typeface="微软雅黑"/>
              </a:rPr>
              <a:t>       →       </a:t>
            </a:r>
            <a:r>
              <a:rPr sz="1000" b="0">
                <a:solidFill>
                  <a:srgbClr val="CCCCCC"/>
                </a:solidFill>
                <a:latin typeface="微软雅黑"/>
              </a:rPr>
              <a:t>access_token: string</a:t>
            </a:r>
            <a:endParaRPr sz="1000" b="0">
              <a:solidFill>
                <a:srgbClr val="CCCCCC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OpenAPI把"人记着的契约"变成了"机器强制的契约"</a:t>
            </a:r>
            <a:endParaRPr sz="13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实操——/opsx三步集成OpenAPI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560320" cy="18288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924560"/>
            <a:ext cx="2255520" cy="320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949960"/>
            <a:ext cx="220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/opsx:explore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32588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微软雅黑"/>
              </a:defRPr>
            </a:pPr>
            <a:r>
              <a:t>诊断阻塞项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600200"/>
            <a:ext cx="240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发现Map&lt;String,Object&gt;</a:t>
            </a:r>
            <a:br/>
            <a:r>
              <a:t>是OpenAPI的阻塞项</a:t>
            </a:r>
            <a:br/>
            <a:r>
              <a:t>→ 先换正式DTO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30220" y="146304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822960"/>
            <a:ext cx="2560320" cy="1828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800" y="924560"/>
            <a:ext cx="2255520" cy="320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8200" y="949960"/>
            <a:ext cx="220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/opsx:propose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132588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确认改造方案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1600200"/>
            <a:ext cx="240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Response DTO命名规范</a:t>
            </a:r>
            <a:br/>
            <a:r>
              <a:t>@Schema注解要求</a:t>
            </a:r>
            <a:br/>
            <a:r>
              <a:t>npm scripts配置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73420" y="146304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822960"/>
            <a:ext cx="2560320" cy="18288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0" y="924560"/>
            <a:ext cx="2255520" cy="320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1400" y="949960"/>
            <a:ext cx="220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/opsx:apply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9800" y="1325880"/>
            <a:ext cx="240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执行改造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9800" y="1600200"/>
            <a:ext cx="240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Batch1: 后端DTO改造</a:t>
            </a:r>
            <a:br/>
            <a:r>
              <a:t>Batch2: 前端类型管线</a:t>
            </a:r>
            <a:br/>
            <a:r>
              <a:t>→ 删除手写类型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8046720" cy="1600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81960"/>
            <a:ext cx="7680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关键改造点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①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Map&lt;String,Object&gt; → LoginResponse  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Java编译器开始检查字段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②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@Schema(description) 注解  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不只是注释，会出现在生成的schema里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③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schema.d.ts 自动生成  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不是手写的，是从后端代码自动生成的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成果1：Swagger UI — 自动生成的API文档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365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7AE60"/>
                </a:solidFill>
                <a:latin typeface="微软雅黑"/>
              </a:rPr>
              <a:t>🔒 </a:t>
            </a:r>
            <a:r>
              <a:rPr sz="1100" b="0">
                <a:solidFill>
                  <a:srgbClr val="999999"/>
                </a:solidFill>
                <a:latin typeface="微软雅黑"/>
              </a:rPr>
              <a:t>localhost:8080/swagger-ui/index.html</a:t>
            </a:r>
            <a:endParaRPr sz="1100" b="0">
              <a:solidFill>
                <a:srgbClr val="999999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046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63980"/>
            <a:ext cx="640080" cy="20116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639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66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/api/auth/send-code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66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发送验证码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73352"/>
            <a:ext cx="8046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711452"/>
            <a:ext cx="64008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114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241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/api/auth/register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241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用户注册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20824"/>
            <a:ext cx="8046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058924"/>
            <a:ext cx="640080" cy="20116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589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7162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/api/auth/login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7162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用户登录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68296"/>
            <a:ext cx="8046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2406396"/>
            <a:ext cx="640080" cy="201168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0639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4190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/api/auth/refresh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190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Token刷新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15768"/>
            <a:ext cx="8046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2753868"/>
            <a:ext cx="640080" cy="201168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538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766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/api/auth/logout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766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用户登出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63240"/>
            <a:ext cx="8046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101340"/>
            <a:ext cx="64008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1013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114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/api/auth/me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114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获取用户信息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10712"/>
            <a:ext cx="8046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448812"/>
            <a:ext cx="640080" cy="201168"/>
          </a:xfrm>
          <a:prstGeom prst="round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44881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DELETE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34615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/api/auth/me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4615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删除账户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86200"/>
            <a:ext cx="8046720" cy="59436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91363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微软雅黑"/>
              </a:rPr>
              <a:t>代码就是文档，文档就是代码</a:t>
            </a:r>
            <a:endParaRPr sz="1300" b="1">
              <a:solidFill>
                <a:srgbClr val="27AE60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</a:rPr>
              <a:t>后端加了字段 → 文档自动出现    后端改了类型 → 文档自动更新    不需要人维护</a:t>
            </a:r>
            <a:endParaRPr sz="11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高光时刻：改后端字段 → tsc立刻报错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3886200" cy="219456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886200" cy="3200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02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Before：手写类型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后端改字段名：</a:t>
            </a:r>
            <a:endParaRPr sz="1100" b="1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access_token → accessToken</a:t>
            </a:r>
            <a:endParaRPr sz="1100" b="1">
              <a:solidFill>
                <a:srgbClr val="E67E22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前端手写 LoginData:</a:t>
            </a:r>
            <a:endParaRPr sz="1100" b="1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access_token: string  ← 还是旧的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tsc 编译结果：</a:t>
            </a:r>
            <a:endParaRPr sz="1100" b="1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微软雅黑"/>
              </a:rPr>
              <a:t>  ✓ 零报错</a:t>
            </a:r>
            <a:endParaRPr sz="1400" b="1">
              <a:solidFill>
                <a:srgbClr val="27AE60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上线后 → 用户登录白屏</a:t>
            </a:r>
            <a:endParaRPr sz="11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00600" y="777240"/>
            <a:ext cx="3886200" cy="219456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600" y="777240"/>
            <a:ext cx="38862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802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After：OpenAPI自动生成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1887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后端改字段名：</a:t>
            </a:r>
            <a:endParaRPr sz="1100" b="1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access_token → accessToken</a:t>
            </a:r>
            <a:endParaRPr sz="1100" b="1">
              <a:solidFill>
                <a:srgbClr val="E67E22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980B9"/>
                </a:solidFill>
                <a:latin typeface="微软雅黑"/>
              </a:rPr>
              <a:t>npm run generate:api-types</a:t>
            </a:r>
            <a:endParaRPr sz="1100" b="1">
              <a:solidFill>
                <a:srgbClr val="2980B9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schema.d.ts 自动更新 ✓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tsc 编译结果：</a:t>
            </a:r>
            <a:endParaRPr sz="1100" b="1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C9394A"/>
                </a:solidFill>
                <a:latin typeface="微软雅黑"/>
              </a:rPr>
              <a:t>  ✕ error TS2339</a:t>
            </a:r>
            <a:endParaRPr sz="14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写代码阶段就拦住</a:t>
            </a:r>
            <a:endParaRPr sz="1100" b="1">
              <a:solidFill>
                <a:srgbClr val="27AE60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8046720" cy="6400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2783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C9394A"/>
                </a:solidFill>
                <a:latin typeface="微软雅黑"/>
              </a:rPr>
              <a:t>tsc报错详情：</a:t>
            </a:r>
            <a:endParaRPr sz="10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FF6666"/>
                </a:solidFill>
                <a:latin typeface="微软雅黑"/>
              </a:rPr>
              <a:t>lib/api/auth.ts(45,32): error TS2339: Property 'access_token' does not exist</a:t>
            </a:r>
            <a:endParaRPr sz="1000" b="0">
              <a:solidFill>
                <a:srgbClr val="FF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6666"/>
                </a:solidFill>
                <a:latin typeface="微软雅黑"/>
              </a:rPr>
              <a:t>  on type 'LoginResponse'. Did you mean 'accessToken'?</a:t>
            </a:r>
            <a:endParaRPr sz="1000" b="0">
              <a:solidFill>
                <a:srgbClr val="FF6666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微软雅黑"/>
              </a:rPr>
              <a:t>编译时拦截 &gt; 运行时崩溃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    写代码就知道错了，不用等上线</a:t>
            </a:r>
            <a:endParaRPr sz="12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SDD双护栏——一道管逻辑，一道管类型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886200" cy="18288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03120" y="89916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80160"/>
            <a:ext cx="368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第一道：Spec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554480"/>
            <a:ext cx="368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WHEN / 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783080"/>
            <a:ext cx="368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约束AI不要写错逻辑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2057400"/>
            <a:ext cx="368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密码正确返回token</a:t>
            </a:r>
            <a:br/>
            <a:r>
              <a:t>密码错误返回401</a:t>
            </a:r>
            <a:br/>
            <a:r>
              <a:t>锁定返回423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822960"/>
            <a:ext cx="3886200" cy="1828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63640" y="89916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9320" y="1280160"/>
            <a:ext cx="368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第二道：OpenAPI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320" y="1554480"/>
            <a:ext cx="368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9320" y="1783080"/>
            <a:ext cx="368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约束前后端不要用错类型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9320" y="2057400"/>
            <a:ext cx="368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后端access_token</a:t>
            </a:r>
            <a:br/>
            <a:r>
              <a:t>前端也必须access_token</a:t>
            </a:r>
            <a:br/>
            <a:r>
              <a:t>改了就编译报错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80360"/>
            <a:ext cx="80467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65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2980B9"/>
                </a:solidFill>
                <a:latin typeface="微软雅黑"/>
              </a:rPr>
              <a:t>Spec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→ 后端DTO → </a:t>
            </a:r>
            <a:r>
              <a:rPr sz="1200" b="1">
                <a:solidFill>
                  <a:srgbClr val="27AE60"/>
                </a:solidFill>
                <a:latin typeface="微软雅黑"/>
              </a:rPr>
              <a:t>springdoc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→ schema → </a:t>
            </a:r>
            <a:r>
              <a:rPr sz="1200" b="1">
                <a:solidFill>
                  <a:srgbClr val="E67E22"/>
                </a:solidFill>
                <a:latin typeface="微软雅黑"/>
              </a:rPr>
              <a:t>openapi-typescript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→ TS类型 → 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tsc拦截</a:t>
            </a:r>
            <a:endParaRPr sz="12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微软雅黑"/>
              </a:rPr>
              <a:t>前后端对齐不再靠人记，靠机器强制同步。</a:t>
            </a:r>
            <a:endParaRPr sz="1500" b="1">
              <a:solidFill>
                <a:srgbClr val="333333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人维护的契约，人会忘、会漏、会不同步。</a:t>
            </a:r>
            <a:endParaRPr sz="1200" b="0">
              <a:solidFill>
                <a:srgbClr val="666666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机器维护的契约，改了就报错，不改就同步。</a:t>
            </a:r>
            <a:endParaRPr sz="12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两道护栏——如果只记两句话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3977639" cy="20116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977639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57400" y="82296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逻辑链：Spec管“做什么”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749808" cy="2743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704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Spec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225296" y="1755140"/>
            <a:ext cx="155448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1691640"/>
            <a:ext cx="749808" cy="2743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71704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80B9"/>
                </a:solidFill>
                <a:latin typeface="微软雅黑"/>
              </a:defRPr>
            </a:pPr>
            <a:r>
              <a:t>explore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85416" y="1755140"/>
            <a:ext cx="155448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1691640"/>
            <a:ext cx="749808" cy="2743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71704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80B9"/>
                </a:solidFill>
                <a:latin typeface="微软雅黑"/>
              </a:defRPr>
            </a:pPr>
            <a:r>
              <a:t>propose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45536" y="1755140"/>
            <a:ext cx="155448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691640"/>
            <a:ext cx="749808" cy="2743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71704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80B9"/>
                </a:solidFill>
                <a:latin typeface="微软雅黑"/>
              </a:defRPr>
            </a:pPr>
            <a:r>
              <a:t>apply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075688"/>
            <a:ext cx="749808" cy="2743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0108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80B9"/>
                </a:solidFill>
                <a:latin typeface="微软雅黑"/>
              </a:defRPr>
            </a:pPr>
            <a:r>
              <a:t>代码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225296" y="2139188"/>
            <a:ext cx="155448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7320" y="2075688"/>
            <a:ext cx="749808" cy="2743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210108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80B9"/>
                </a:solidFill>
                <a:latin typeface="微软雅黑"/>
              </a:defRPr>
            </a:pPr>
            <a:r>
              <a:t>Review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85416" y="2139188"/>
            <a:ext cx="155448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77440" y="2075688"/>
            <a:ext cx="749808" cy="2743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10108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80B9"/>
                </a:solidFill>
                <a:latin typeface="微软雅黑"/>
              </a:defRPr>
            </a:pPr>
            <a:r>
              <a:t>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731520"/>
            <a:ext cx="4160520" cy="201168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731520"/>
            <a:ext cx="416052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82296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128016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类型链：OpenAPI管“做对了”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1691640"/>
            <a:ext cx="1005840" cy="274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1717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后端DTO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16168" y="1755140"/>
            <a:ext cx="164592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26480" y="1691640"/>
            <a:ext cx="1005840" cy="274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717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springdoc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150608" y="1755140"/>
            <a:ext cx="164592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60920" y="1691640"/>
            <a:ext cx="1005840" cy="274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1717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Schema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2075688"/>
            <a:ext cx="1005840" cy="274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21010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openapi-ts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16168" y="2139188"/>
            <a:ext cx="164592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2075688"/>
            <a:ext cx="1005840" cy="274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1010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TS类型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150608" y="2139188"/>
            <a:ext cx="164592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60920" y="2075688"/>
            <a:ext cx="10058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21010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tsc拦截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2971800"/>
            <a:ext cx="841248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01752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980B9"/>
                </a:solidFill>
                <a:latin typeface="微软雅黑"/>
              </a:rPr>
              <a:t>逻辑链 = </a:t>
            </a:r>
            <a:r>
              <a:rPr sz="1300" b="1">
                <a:solidFill>
                  <a:srgbClr val="333333"/>
                </a:solidFill>
                <a:latin typeface="微软雅黑"/>
              </a:rPr>
              <a:t>纵向贯穿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 — 从需求到代码到测试，一条线贯穿开发全流程</a:t>
            </a:r>
            <a:endParaRPr sz="12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27AE60"/>
                </a:solidFill>
                <a:latin typeface="微软雅黑"/>
              </a:rPr>
              <a:t>类型链 = </a:t>
            </a:r>
            <a:r>
              <a:rPr sz="1300" b="1">
                <a:solidFill>
                  <a:srgbClr val="333333"/>
                </a:solidFill>
                <a:latin typeface="微软雅黑"/>
              </a:rPr>
              <a:t>横向焊接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 — 把前端和后端"焊死"在一起，改一边另一边自动同步</a:t>
            </a:r>
            <a:endParaRPr sz="1200" b="0">
              <a:solidFill>
                <a:srgbClr val="666666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一道管逻辑，一道管类型。两道护栏交叉覆盖，不留死角。</a:t>
            </a:r>
            <a:endParaRPr sz="13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8872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逻辑链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980B9"/>
                </a:solidFill>
                <a:latin typeface="微软雅黑"/>
              </a:defRPr>
            </a:pPr>
            <a:r>
              <a:t>Spec管“做什么”——纵向贯穿全流程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40080"/>
            <a:ext cx="3474720" cy="438912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8000" y="690880"/>
            <a:ext cx="274320" cy="27432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781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Spec编写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781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WHEN/THEN定义业务规则</a:t>
            </a:r>
          </a:p>
        </p:txBody>
      </p:sp>
      <p:sp>
        <p:nvSpPr>
          <p:cNvPr id="9" name="Down Arrow 8"/>
          <p:cNvSpPr/>
          <p:nvPr/>
        </p:nvSpPr>
        <p:spPr>
          <a:xfrm>
            <a:off x="2011680" y="1091692"/>
            <a:ext cx="13716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3474720" cy="438912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8000" y="1285240"/>
            <a:ext cx="274320" cy="2743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725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/opsx:explore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2725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AI扫描项目现状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011680" y="1686052"/>
            <a:ext cx="13716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3474720" cy="438912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000" y="1879600"/>
            <a:ext cx="274320" cy="2743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8669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/opsx:propose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8669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AI出改造方案(四件套)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011680" y="2280412"/>
            <a:ext cx="13716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2423160"/>
            <a:ext cx="3474720" cy="438912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8000" y="2473960"/>
            <a:ext cx="274320" cy="2743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4612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/opsx:apply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4612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AI执行Spec生成代码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011680" y="2874772"/>
            <a:ext cx="13716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017520"/>
            <a:ext cx="3474720" cy="438912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8000" y="306832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0556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0556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拿Spec逐条对账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011680" y="3469132"/>
            <a:ext cx="13716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611880"/>
            <a:ext cx="3474720" cy="438912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8000" y="366268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6499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6499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WHEN/THEN → test()断言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640080"/>
            <a:ext cx="4480560" cy="32004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68580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2980B9"/>
                </a:solidFill>
                <a:latin typeface="微软雅黑"/>
              </a:rPr>
              <a:t>逻辑链守护什么？</a:t>
            </a:r>
            <a:endParaRPr sz="1400" b="1">
              <a:solidFill>
                <a:srgbClr val="2980B9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AI不会写错业务逻辑</a:t>
            </a:r>
            <a:endParaRPr sz="1300" b="1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微软雅黑"/>
              </a:rPr>
              <a:t>具体场景：</a:t>
            </a:r>
            <a:endParaRPr sz="1100" b="1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</a:t>
            </a:r>
            <a:r>
              <a:rPr sz="1100" b="0">
                <a:solidFill>
                  <a:srgbClr val="333333"/>
                </a:solidFill>
                <a:latin typeface="微软雅黑"/>
              </a:rPr>
              <a:t>密码正确 → 返回200 + token</a:t>
            </a:r>
            <a:endParaRPr sz="11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</a:t>
            </a:r>
            <a:r>
              <a:rPr sz="1100" b="0">
                <a:solidFill>
                  <a:srgbClr val="333333"/>
                </a:solidFill>
                <a:latin typeface="微软雅黑"/>
              </a:rPr>
              <a:t>密码错误 → 返回401（不区分账号不存在）</a:t>
            </a:r>
            <a:endParaRPr sz="11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</a:t>
            </a:r>
            <a:r>
              <a:rPr sz="1100" b="0">
                <a:solidFill>
                  <a:srgbClr val="333333"/>
                </a:solidFill>
                <a:latin typeface="微软雅黑"/>
              </a:rPr>
              <a:t>连错5次 → 锁定30min → 返回423</a:t>
            </a:r>
            <a:endParaRPr sz="11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</a:t>
            </a:r>
            <a:r>
              <a:rPr sz="1100" b="0">
                <a:solidFill>
                  <a:srgbClr val="333333"/>
                </a:solidFill>
                <a:latin typeface="微软雅黑"/>
              </a:rPr>
              <a:t>未验证邮箱 → 返回403</a:t>
            </a:r>
            <a:endParaRPr sz="1100" b="0">
              <a:solidFill>
                <a:srgbClr val="333333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2980B9"/>
                </a:solidFill>
                <a:latin typeface="微软雅黑"/>
              </a:rPr>
              <a:t>约束来源：Spec的WHEN/THEN</a:t>
            </a:r>
            <a:endParaRPr sz="1100" b="1">
              <a:solidFill>
                <a:srgbClr val="2980B9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C9394A"/>
                </a:solidFill>
                <a:latin typeface="微软雅黑"/>
              </a:rPr>
              <a:t>没有Spec → AI不知道什么叫"登录成功"</a:t>
            </a:r>
            <a:endParaRPr sz="1000" b="0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4320" y="41148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微软雅黑"/>
              </a:rPr>
              <a:t>一句话：</a:t>
            </a:r>
            <a:r>
              <a:rPr sz="1200" b="1">
                <a:solidFill>
                  <a:srgbClr val="2980B9"/>
                </a:solidFill>
                <a:latin typeface="微软雅黑"/>
              </a:rPr>
              <a:t>Spec定义了"什么叫成功"，WHEN/THEN保证AI按这个定义执行</a:t>
            </a:r>
            <a:endParaRPr sz="1200" b="1">
              <a:solidFill>
                <a:srgbClr val="2980B9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1887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类型链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7AE60"/>
                </a:solidFill>
                <a:latin typeface="微软雅黑"/>
              </a:defRPr>
            </a:pPr>
            <a:r>
              <a:t>OpenAPI管“做对了”——横向焊接前后端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85800"/>
            <a:ext cx="1417320" cy="11887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85800"/>
            <a:ext cx="141732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520" y="787400"/>
            <a:ext cx="126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后端</a:t>
            </a:r>
            <a:br/>
            <a:r>
              <a:t>DTO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20" y="1234440"/>
            <a:ext cx="126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LoginResponse</a:t>
            </a:r>
            <a:br/>
            <a:r>
              <a:t>{access_token}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04340" y="1051560"/>
            <a:ext cx="111760" cy="164592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685800"/>
            <a:ext cx="1417320" cy="118872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685800"/>
            <a:ext cx="1417320" cy="50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5000" y="787400"/>
            <a:ext cx="126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springdoc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1234440"/>
            <a:ext cx="126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扫描Java代码</a:t>
            </a:r>
            <a:br/>
            <a:r>
              <a:t>生成JSON Schema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58820" y="1051560"/>
            <a:ext cx="111760" cy="164592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685800"/>
            <a:ext cx="1417320" cy="118872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685800"/>
            <a:ext cx="141732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9480" y="787400"/>
            <a:ext cx="126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openapi-</a:t>
            </a:r>
            <a:br/>
            <a: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80" y="1234440"/>
            <a:ext cx="126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读Schema</a:t>
            </a:r>
            <a:br/>
            <a:r>
              <a:t>生成TS类型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13300" y="1051560"/>
            <a:ext cx="111760" cy="164592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37760" y="685800"/>
            <a:ext cx="1417320" cy="11887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685800"/>
            <a:ext cx="141732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3960" y="787400"/>
            <a:ext cx="126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前端</a:t>
            </a:r>
            <a:br/>
            <a:r>
              <a:t>TS类型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3960" y="1234440"/>
            <a:ext cx="126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schema.d.ts</a:t>
            </a:r>
            <a:br/>
            <a:r>
              <a:t>{access_token: string}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367780" y="1051560"/>
            <a:ext cx="111760" cy="164592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685800"/>
            <a:ext cx="1417320" cy="118872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685800"/>
            <a:ext cx="1417320" cy="5080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8440" y="787400"/>
            <a:ext cx="126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tsc</a:t>
            </a:r>
            <a:br/>
            <a:r>
              <a:t>编译拦截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440" y="1234440"/>
            <a:ext cx="126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后端改字段</a:t>
            </a:r>
            <a:br/>
            <a:r>
              <a:t>→ 编译报错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2103120"/>
            <a:ext cx="3977639" cy="13716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103120"/>
            <a:ext cx="3977639" cy="27432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11582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没有类型链（手写类型）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450592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后端改 access_token → accessToken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前端手写 LoginData 还是 access_token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tsc：✓ 零报错</a:t>
            </a:r>
            <a:endParaRPr sz="1100" b="1">
              <a:solidFill>
                <a:srgbClr val="27AE60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运行时：undefined → 用户白屏</a:t>
            </a:r>
            <a:endParaRPr sz="11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709160" y="2103120"/>
            <a:ext cx="4160520" cy="13716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09160" y="2103120"/>
            <a:ext cx="41605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1158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有类型链（OpenAPI自动生成）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450592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后端改 access_token → accessToken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npm run generate → schema.d.ts 自动更新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tsc：✕ error TS2339</a:t>
            </a:r>
            <a:endParaRPr sz="11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写代码阶段就拦住 → 零风险上线</a:t>
            </a:r>
            <a:endParaRPr sz="1100" b="1">
              <a:solidFill>
                <a:srgbClr val="27AE60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74320" y="3703320"/>
            <a:ext cx="841248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73075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人维护的契约 → 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人会忘、会漏、会不同步</a:t>
            </a:r>
            <a:endParaRPr sz="12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机器维护的契约 → </a:t>
            </a:r>
            <a:r>
              <a:rPr sz="1200" b="1">
                <a:solidFill>
                  <a:srgbClr val="27AE60"/>
                </a:solidFill>
                <a:latin typeface="微软雅黑"/>
              </a:rPr>
              <a:t>改了就报错，不改就同步</a:t>
            </a:r>
            <a:endParaRPr sz="1200" b="1">
              <a:solidFill>
                <a:srgbClr val="27AE60"/>
              </a:solidFill>
              <a:latin typeface="微软雅黑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一张表——全章学习路径复盘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711200"/>
            <a:ext cx="320040" cy="32004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685800"/>
            <a:ext cx="109728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620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Spec编写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762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安全边界 + 状态机 + WHEN/THEN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48640" y="1155700"/>
            <a:ext cx="118872" cy="21470112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223264"/>
            <a:ext cx="320040" cy="3200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197864"/>
            <a:ext cx="109728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7406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JWT原理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2740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Token生成 / 验证 / 刷新 / 双token策略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48640" y="1667764"/>
            <a:ext cx="118872" cy="21470112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" y="1735328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709928"/>
            <a:ext cx="109728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786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前端开发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7861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/opsx:explore→propose→apply 驱动UI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48640" y="2179828"/>
            <a:ext cx="118872" cy="21470112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2247392"/>
            <a:ext cx="320040" cy="3200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221992"/>
            <a:ext cx="109728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2981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后端开发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2981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注册/登录/Token验证API + 安全边界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48640" y="2691892"/>
            <a:ext cx="118872" cy="21470112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2759456"/>
            <a:ext cx="320040" cy="3200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734056"/>
            <a:ext cx="109728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8102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前后端联调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8102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同域代理 + credentials:include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48640" y="3203956"/>
            <a:ext cx="118872" cy="21470112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32715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246120"/>
            <a:ext cx="109728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322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OpenAPI契约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322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共享Schema + 编译时拦截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3783584"/>
            <a:ext cx="320040" cy="32004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758184"/>
            <a:ext cx="1097280" cy="4572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83438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本章小结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83438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你现在在这里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685800"/>
            <a:ext cx="29260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73152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路径设计逻辑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微软雅黑"/>
              </a:rPr>
              <a:t>不是</a:t>
            </a:r>
            <a:r>
              <a:rPr sz="1100" b="1">
                <a:solidFill>
                  <a:srgbClr val="C9394A"/>
                </a:solidFill>
                <a:latin typeface="微软雅黑"/>
              </a:rPr>
              <a:t>"先学前端再学后端"</a:t>
            </a:r>
            <a:endParaRPr sz="11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100" b="0">
                <a:solidFill>
                  <a:srgbClr val="666666"/>
                </a:solidFill>
                <a:latin typeface="微软雅黑"/>
              </a:rPr>
              <a:t>而是</a:t>
            </a:r>
            <a:r>
              <a:rPr sz="1100" b="1">
                <a:solidFill>
                  <a:srgbClr val="27AE60"/>
                </a:solidFill>
                <a:latin typeface="微软雅黑"/>
              </a:rPr>
              <a:t>"从契约出发，
前后端同时生长"</a:t>
            </a:r>
            <a:endParaRPr sz="1100" b="1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第1节 Spec = 共同契约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第2节 JWT = 执行手段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第3-4节 = 分别实现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第5节 = 验证对齐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第6节 = 自动同步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>
                <a:solidFill>
                  <a:srgbClr val="C9394A"/>
                </a:solidFill>
                <a:latin typeface="微软雅黑"/>
              </a:rPr>
              <a:t>每一步都在为下一步打地基</a:t>
            </a:r>
            <a:endParaRPr sz="10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一个分水岭——你手上现在有什么？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85800"/>
            <a:ext cx="2011680" cy="320040"/>
          </a:xfrm>
          <a:prstGeom prst="round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11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交付物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685800"/>
            <a:ext cx="2743200" cy="320040"/>
          </a:xfrm>
          <a:prstGeom prst="round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711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685800"/>
            <a:ext cx="3840480" cy="320040"/>
          </a:xfrm>
          <a:prstGeom prst="round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711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意义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1005840"/>
            <a:ext cx="2743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005840"/>
            <a:ext cx="38404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" y="1043940"/>
            <a:ext cx="228600" cy="22860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0566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auth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056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specs/auth/spec.md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056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前后端共同的契约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89888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138988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89888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" y="1427988"/>
            <a:ext cx="228600" cy="2286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4068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JWT双token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4406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后端 JwtService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44068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access 30min + refresh 7天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773936"/>
            <a:ext cx="20116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1773936"/>
            <a:ext cx="2743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773936"/>
            <a:ext cx="38404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60" y="1812036"/>
            <a:ext cx="228600" cy="2286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82473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前端登录注册页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182473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app/(auth)/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182473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处理4种状态的完整UI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157984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2157984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0" y="2157984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5760" y="2196084"/>
            <a:ext cx="228600" cy="2286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208784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微软雅黑"/>
              </a:defRPr>
            </a:pPr>
            <a:r>
              <a:t>后端7个认证API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220878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AuthController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220878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注册→登录→刷新→登出→删除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542032"/>
            <a:ext cx="20116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2542032"/>
            <a:ext cx="27432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542032"/>
            <a:ext cx="38404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760" y="2580132"/>
            <a:ext cx="228600" cy="2286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9283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前后端联调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25928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lib/api/auth.ts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25928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credentials:include + 同域代理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92608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0" y="2926080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2926080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5760" y="296418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976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OpenAPI管线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2976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schema.d.ts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2976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编译时类型拦截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447288"/>
            <a:ext cx="8412480" cy="4572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49808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六样东西，构成了一套完整的认证体系。</a:t>
            </a:r>
            <a:r>
              <a:rPr sz="1200" b="1">
                <a:solidFill>
                  <a:srgbClr val="27AE60"/>
                </a:solidFill>
                <a:latin typeface="微软雅黑"/>
              </a:rPr>
              <a:t> 不是Demo，是可以跑、可以测、可以交付的系统。</a:t>
            </a:r>
            <a:endParaRPr sz="1200" b="1">
              <a:solidFill>
                <a:srgbClr val="27AE60"/>
              </a:solidFill>
              <a:latin typeface="微软雅黑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从信任AI，到验证AI，到约束AI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2560320" cy="20116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256032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14300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600200"/>
            <a:ext cx="235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980B9"/>
                </a:solidFill>
                <a:latin typeface="微软雅黑"/>
              </a:defRPr>
            </a:pPr>
            <a:r>
              <a:t>信任AI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874520"/>
            <a:ext cx="235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先写Spec再写代码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2148840"/>
            <a:ext cx="235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学会跟AI对话</a:t>
            </a:r>
            <a:br/>
            <a:r>
              <a:t>把需求变成契约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0220" y="146304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731520"/>
            <a:ext cx="2560320" cy="201168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731520"/>
            <a:ext cx="256032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14300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2000" y="1600200"/>
            <a:ext cx="235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验证AI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000" y="1874520"/>
            <a:ext cx="235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按Spec闭环开发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2000" y="2148840"/>
            <a:ext cx="235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AI产出≠完美</a:t>
            </a:r>
            <a:br/>
            <a:r>
              <a:t>要拿Spec逐条对账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3420" y="1463040"/>
            <a:ext cx="1574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0" y="731520"/>
            <a:ext cx="2560320" cy="201168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731520"/>
            <a:ext cx="256032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49440" y="114300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200" y="1600200"/>
            <a:ext cx="235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微软雅黑"/>
              </a:defRPr>
            </a:pPr>
            <a:r>
              <a:t>约束AI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5200" y="1874520"/>
            <a:ext cx="235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两道护栏交叉守护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5200" y="2148840"/>
            <a:ext cx="235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Spec管逻辑</a:t>
            </a:r>
            <a:br/>
            <a:r>
              <a:t>OpenAPI管类型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017520"/>
            <a:ext cx="804672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445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333333"/>
                </a:solidFill>
                <a:latin typeface="微软雅黑"/>
              </a:rPr>
              <a:t>AI全栈开发质量 = </a:t>
            </a:r>
            <a:r>
              <a:rPr sz="1400" b="1">
                <a:solidFill>
                  <a:srgbClr val="2980B9"/>
                </a:solidFill>
                <a:latin typeface="微软雅黑"/>
              </a:rPr>
              <a:t>Spec精确度</a:t>
            </a:r>
            <a:r>
              <a:rPr sz="1400" b="0">
                <a:solidFill>
                  <a:srgbClr val="333333"/>
                </a:solidFill>
                <a:latin typeface="微软雅黑"/>
              </a:rPr>
              <a:t> × </a:t>
            </a:r>
            <a:r>
              <a:rPr sz="1400" b="1">
                <a:solidFill>
                  <a:srgbClr val="27AE60"/>
                </a:solidFill>
                <a:latin typeface="微软雅黑"/>
              </a:rPr>
              <a:t>护栏完备度</a:t>
            </a:r>
            <a:r>
              <a:rPr sz="1400" b="0">
                <a:solidFill>
                  <a:srgbClr val="333333"/>
                </a:solidFill>
                <a:latin typeface="微软雅黑"/>
              </a:rPr>
              <a:t> × </a:t>
            </a:r>
            <a:r>
              <a:rPr sz="1400" b="1">
                <a:solidFill>
                  <a:srgbClr val="E67E22"/>
                </a:solidFill>
                <a:latin typeface="微软雅黑"/>
              </a:rPr>
              <a:t>人工审核密度</a:t>
            </a:r>
            <a:endParaRPr sz="1400" b="1">
              <a:solidFill>
                <a:srgbClr val="E67E22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三个因子是乘法关系——任何一个为零，总质量就是零</a:t>
            </a:r>
            <a:endParaRPr sz="12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流程是稳定的，场景是可替换的。</a:t>
            </a:r>
            <a:endParaRPr sz="1300" b="1">
              <a:solidFill>
                <a:srgbClr val="333333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掌握了这套流程，下一个模块、下下一个模块，都是同一个套路。</a:t>
            </a:r>
            <a:endParaRPr sz="1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PA" val="v3.0.1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MGRjODRhYWQxYThhYzQ5MjM3MTY5N2VkYzFjOWUzZ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8145</Words>
  <Application>WPS 演示</Application>
  <PresentationFormat>On-screen Show (16:9)</PresentationFormat>
  <Paragraphs>921</Paragraphs>
  <Slides>32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Meiryo</vt:lpstr>
      <vt:lpstr>方正兰亭黑简体</vt:lpstr>
      <vt:lpstr>微软雅黑</vt:lpstr>
      <vt:lpstr>汉仪旗黑</vt:lpstr>
      <vt:lpstr>微软雅黑</vt:lpstr>
      <vt:lpstr>微软雅黑</vt:lpstr>
      <vt:lpstr>Calibri</vt:lpstr>
      <vt:lpstr>Helvetica Neue</vt:lpstr>
      <vt:lpstr>Hiragino Sans</vt:lpstr>
      <vt:lpstr>宋体</vt:lpstr>
      <vt:lpstr>Arial Unicode MS</vt:lpstr>
      <vt:lpstr>等线</vt:lpstr>
      <vt:lpstr>汉仪中等线KW</vt:lpstr>
      <vt:lpstr>汉仪书宋二KW</vt:lpstr>
      <vt:lpstr>Apple Color Emoji</vt:lpstr>
      <vt:lpstr>儷宋 Pro</vt:lpstr>
      <vt:lpstr>汉仪中黑KW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MOOC Course</dc:creator>
  <dc:subject>PptxGenJS Presentation</dc:subject>
  <cp:lastModifiedBy>testtest</cp:lastModifiedBy>
  <cp:revision>12</cp:revision>
  <dcterms:created xsi:type="dcterms:W3CDTF">2026-06-06T16:50:22Z</dcterms:created>
  <dcterms:modified xsi:type="dcterms:W3CDTF">2026-06-06T16:50:22Z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0D6ECAA0D5183FFB53E81E6AD40331A6_42</vt:lpwstr>
  </property>
  <property fmtid="{D5CDD505-2E9C-101B-9397-08002B2CF9AE}" pid="3" name="KSOProductBuildVer">
    <vt:lpwstr>2052-3.9.4.6398</vt:lpwstr>
  </property>
</Properties>
</file>